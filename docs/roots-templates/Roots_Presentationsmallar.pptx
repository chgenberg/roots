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embeddedFontLst>
    <p:embeddedFont>
      <p:font typeface="Alan Sans"/>
      <p:regular r:id="rIdEmbFont1"/>
      <p:bold r:id="rIdEmbFont2"/>
    </p:embeddedFont>
    <p:embeddedFont>
      <p:font typeface="Inter 18pt"/>
      <p:regular r:id="rIdEmbFont3"/>
      <p:bold r:id="rIdEmbFont4"/>
      <p:italic r:id="rIdEmbFont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EmbFont1" Type="http://schemas.openxmlformats.org/officeDocument/2006/relationships/font" Target="fonts/font1.fntdata"/><Relationship Id="rIdEmbFont2" Type="http://schemas.openxmlformats.org/officeDocument/2006/relationships/font" Target="fonts/font2.fntdata"/><Relationship Id="rIdEmbFont3" Type="http://schemas.openxmlformats.org/officeDocument/2006/relationships/font" Target="fonts/font3.fntdata"/><Relationship Id="rIdEmbFont4" Type="http://schemas.openxmlformats.org/officeDocument/2006/relationships/font" Target="fonts/font4.fntdata"/><Relationship Id="rIdEmbFont5" Type="http://schemas.openxmlformats.org/officeDocument/2006/relationships/font" Target="fonts/font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s__collection-2.jpg"/>
          <p:cNvPicPr>
            <a:picLocks noChangeAspect="1"/>
          </p:cNvPicPr>
          <p:nvPr/>
        </p:nvPicPr>
        <p:blipFill>
          <a:blip r:embed="rId2"/>
          <a:srcRect l="24957" r="24957"/>
          <a:stretch>
            <a:fillRect/>
          </a:stretch>
        </p:blipFill>
        <p:spPr>
          <a:xfrm>
            <a:off x="7040880" y="0"/>
            <a:ext cx="51508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040880" y="0"/>
            <a:ext cx="54864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ots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146304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2148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DESIGNSYSTEM FÖR PRESENTATIONER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6035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D1D1B"/>
                </a:solidFill>
                <a:latin typeface="Alan Sans"/>
              </a:rPr>
              <a:t>Roots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6B794F"/>
                </a:solidFill>
                <a:latin typeface="Alan Sans"/>
              </a:rPr>
              <a:t>presentationsmallar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5669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7F715B"/>
                </a:solidFill>
                <a:latin typeface="Inter 18pt"/>
              </a:rPr>
              <a:t>Ett bibliotek av färdiga slide-mallar byggda på vår brandbook. Välj en layout, byt ut texten och bilden — klart.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4008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C1BF99"/>
                </a:solidFill>
                <a:latin typeface="Alan San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3611880"/>
            <a:ext cx="1280160" cy="4572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Avsnittsdelare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1BF99"/>
                </a:solidFill>
                <a:latin typeface="Alan Sans"/>
              </a:rPr>
              <a:t>ROOTS</a:t>
            </a:r>
            <a:r>
              <a:rPr sz="1000" b="0">
                <a:solidFill>
                  <a:srgbClr val="D5CABF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01 · DIVIDER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94F"/>
                </a:solidFill>
                <a:latin typeface="Inter 18pt"/>
              </a:rPr>
              <a:t>MALL 02 · ENDAST RUBRIK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880360"/>
            <a:ext cx="10424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1D1B"/>
                </a:solidFill>
                <a:latin typeface="Alan Sans"/>
              </a:rPr>
              <a:t>Ett tydligt påstående som får ta plats.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02 · ENDAST RUBRIK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03 · RUBRIK +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Rubrik plus ett stycke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78638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7F715B"/>
                </a:solidFill>
                <a:latin typeface="Inter 18pt"/>
              </a:rPr>
              <a:t>Använd när du vill förklara något i löpande text. Håll det kort — en till två korta stycken räcker.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7F715B"/>
                </a:solidFill>
                <a:latin typeface="Inter 18pt"/>
              </a:rPr>
              <a:t>Ett andra stycke kan komplettera det första utan att sidan blir tung.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03 · RUBRIK +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04 · PUNKTLISTA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Rubrik plus punkter</a:t>
            </a:r>
          </a:p>
        </p:txBody>
      </p:sp>
      <p:sp>
        <p:nvSpPr>
          <p:cNvPr id="5" name="Oval 4"/>
          <p:cNvSpPr/>
          <p:nvPr/>
        </p:nvSpPr>
        <p:spPr>
          <a:xfrm>
            <a:off x="676656" y="2368296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Första poängen — kort och konkret</a:t>
            </a:r>
          </a:p>
        </p:txBody>
      </p:sp>
      <p:sp>
        <p:nvSpPr>
          <p:cNvPr id="7" name="Oval 6"/>
          <p:cNvSpPr/>
          <p:nvPr/>
        </p:nvSpPr>
        <p:spPr>
          <a:xfrm>
            <a:off x="676656" y="3118104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35808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Andra poängen som bygger vidare</a:t>
            </a:r>
          </a:p>
        </p:txBody>
      </p:sp>
      <p:sp>
        <p:nvSpPr>
          <p:cNvPr id="9" name="Oval 8"/>
          <p:cNvSpPr/>
          <p:nvPr/>
        </p:nvSpPr>
        <p:spPr>
          <a:xfrm>
            <a:off x="676656" y="3867912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6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Tredje poängen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" y="4617720"/>
            <a:ext cx="182880" cy="182880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35424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Fjärde poängen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04 · PUNKTLISTA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05 ·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Nuläge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0896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Mål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5020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9592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Strategi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791456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37176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632704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78424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Erbjudande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6771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315468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Förutsättningar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3995928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Organisation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791456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1BF99"/>
                </a:solidFill>
                <a:latin typeface="Alan Sans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837176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Avslut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05 · AGENDA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06 · RUBRIK + BILD +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Text till vänster, bild till höger</a:t>
            </a:r>
          </a:p>
        </p:txBody>
      </p:sp>
      <p:pic>
        <p:nvPicPr>
          <p:cNvPr id="5" name="Picture 4" descr="images__collection-1.jpg"/>
          <p:cNvPicPr>
            <a:picLocks noChangeAspect="1"/>
          </p:cNvPicPr>
          <p:nvPr/>
        </p:nvPicPr>
        <p:blipFill>
          <a:blip r:embed="rId2"/>
          <a:srcRect l="13714" r="13714"/>
          <a:stretch>
            <a:fillRect/>
          </a:stretch>
        </p:blipFill>
        <p:spPr>
          <a:xfrm>
            <a:off x="6476695" y="1280160"/>
            <a:ext cx="507492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468880"/>
            <a:ext cx="5120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7F715B"/>
                </a:solidFill>
                <a:latin typeface="Inter 18pt"/>
              </a:rPr>
              <a:t>Perfekt när ett foto förstärker budskapet. Texten förklarar, bilden ger känslan.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7F715B"/>
                </a:solidFill>
                <a:latin typeface="Inter 18pt"/>
              </a:rPr>
              <a:t>Byt enkelt ut bilden mot vilken produkt- eller livsstilsbild som helst.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06 · RUBRIK + BILD +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__collection-4.jpg"/>
          <p:cNvPicPr>
            <a:picLocks noChangeAspect="1"/>
          </p:cNvPicPr>
          <p:nvPr/>
        </p:nvPicPr>
        <p:blipFill>
          <a:blip r:embed="rId2"/>
          <a:srcRect l="19663" r="19663"/>
          <a:stretch>
            <a:fillRect/>
          </a:stretch>
        </p:blipFill>
        <p:spPr>
          <a:xfrm>
            <a:off x="640080" y="640080"/>
            <a:ext cx="5074920" cy="5577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822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07 · BILD +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98464" y="1207008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B"/>
                </a:solidFill>
                <a:latin typeface="Alan Sans"/>
              </a:rPr>
              <a:t>Bild till vänster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26517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7F715B"/>
                </a:solidFill>
                <a:latin typeface="Inter 18pt"/>
              </a:rPr>
              <a:t>Samma mall som 06 men speglad. Bra för variation när du har flera bild-sidor efter varandra.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07 · BILD + TEXT (SPEGEL)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s__collection-2.jpg"/>
          <p:cNvPicPr>
            <a:picLocks noChangeAspect="1"/>
          </p:cNvPicPr>
          <p:nvPr/>
        </p:nvPicPr>
        <p:blipFill>
          <a:blip r:embed="rId2"/>
          <a:srcRect t="7825" b="78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lan Sans"/>
              </a:rPr>
              <a:t>Helbild med rubrik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8978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1BF99"/>
                </a:solidFill>
                <a:latin typeface="Inter 18pt"/>
              </a:rPr>
              <a:t>När bilden ska bära hela känslan.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CABF"/>
                </a:solidFill>
                <a:latin typeface="Inter 18pt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08 · HELBILD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09 · TVÅ KOLUMNER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Ställ två saker mot varandra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52578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0976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072384"/>
            <a:ext cx="46360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Före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794760"/>
            <a:ext cx="46360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7F715B"/>
                </a:solidFill>
                <a:latin typeface="Inter 18pt"/>
              </a:rPr>
              <a:t>Hur det ser ut idag. Kort och tydligt.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7F715B"/>
                </a:solidFill>
                <a:latin typeface="Inter 18pt"/>
              </a:rPr>
              <a:t>En andra rad om det behövs.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2578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74536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3072384"/>
            <a:ext cx="463600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Efter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3794760"/>
            <a:ext cx="463600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7F715B"/>
                </a:solidFill>
                <a:latin typeface="Inter 18pt"/>
              </a:rPr>
              <a:t>Hur det ser ut med Roots.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7F715B"/>
                </a:solidFill>
                <a:latin typeface="Inter 18pt"/>
              </a:rPr>
              <a:t>Fördelen sammanfattad.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09 · TVÅ KOLUMNER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10 · KORT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Tre kort bredvid varandra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42381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090672"/>
            <a:ext cx="283860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Kort ett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86200"/>
            <a:ext cx="283860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En kort beskrivning som ryms på ett par rader.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468880"/>
            <a:ext cx="342381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76546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6546" y="3090672"/>
            <a:ext cx="283860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Kort två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546" y="3886200"/>
            <a:ext cx="283860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Använd 2–4 kort. Layouten anpassar bredden.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68880"/>
            <a:ext cx="342381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20404" y="2852928"/>
            <a:ext cx="457200" cy="54864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0404" y="3090672"/>
            <a:ext cx="283860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Kort 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0404" y="3886200"/>
            <a:ext cx="283860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7F715B"/>
                </a:solidFill>
                <a:latin typeface="Inter 18pt"/>
              </a:rPr>
              <a:t>Bra för värden, steg eller egenskaper.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10 · KORT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94F"/>
                </a:solidFill>
                <a:latin typeface="Inter 18pt"/>
              </a:rPr>
              <a:t>MALL 11 · NYCKELTAL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207008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D1D1B"/>
                </a:solidFill>
                <a:latin typeface="Alan Sans"/>
              </a:rPr>
              <a:t>Stora siffror som fastnar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342381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6B794F"/>
                </a:solidFill>
                <a:latin typeface="Alan Sans"/>
              </a:rPr>
              <a:t>35 %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342381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15B"/>
                </a:solidFill>
                <a:latin typeface="Inter 18pt"/>
              </a:rPr>
              <a:t>till föreningen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3938" y="2834640"/>
            <a:ext cx="342381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6B794F"/>
                </a:solidFill>
                <a:latin typeface="Alan Sans"/>
              </a:rPr>
              <a:t>0 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4206240"/>
            <a:ext cx="342381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15B"/>
                </a:solidFill>
                <a:latin typeface="Inter 18pt"/>
              </a:rPr>
              <a:t>i uppstart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7796" y="2834640"/>
            <a:ext cx="342381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6B794F"/>
                </a:solidFill>
                <a:latin typeface="Alan Sans"/>
              </a:rPr>
              <a:t>2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7796" y="4206240"/>
            <a:ext cx="342381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15B"/>
                </a:solidFill>
                <a:latin typeface="Inter 18pt"/>
              </a:rPr>
              <a:t>säljperiod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11 · NYCKELTAL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194560"/>
            <a:ext cx="9601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D1D1B"/>
                </a:solidFill>
                <a:latin typeface="Alan Sans"/>
              </a:rPr>
              <a:t>“Vi vill att föreningslivet i Sverige ska blomstra.”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4937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15B"/>
                </a:solidFill>
                <a:latin typeface="Inter 18pt"/>
              </a:rPr>
              <a:t>— Roots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12 · CITAT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13 · PRODUKTER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Produktkort med bild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s__schampoo.jpg"/>
          <p:cNvPicPr>
            <a:picLocks noChangeAspect="1"/>
          </p:cNvPicPr>
          <p:nvPr/>
        </p:nvPicPr>
        <p:blipFill>
          <a:blip r:embed="rId2"/>
          <a:srcRect t="14947" b="14947"/>
          <a:stretch>
            <a:fillRect/>
          </a:stretch>
        </p:blipFill>
        <p:spPr>
          <a:xfrm>
            <a:off x="640080" y="2331720"/>
            <a:ext cx="3423818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114800"/>
            <a:ext cx="28751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94F"/>
                </a:solidFill>
                <a:latin typeface="Inter 18pt"/>
              </a:rPr>
              <a:t>SCHAMPO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28751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Roots Schampoo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287517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SyriCalm® lugnar hårbotten.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233172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s__conditioner.jpg"/>
          <p:cNvPicPr>
            <a:picLocks noChangeAspect="1"/>
          </p:cNvPicPr>
          <p:nvPr/>
        </p:nvPicPr>
        <p:blipFill>
          <a:blip r:embed="rId3"/>
          <a:srcRect t="14947" b="14947"/>
          <a:stretch>
            <a:fillRect/>
          </a:stretch>
        </p:blipFill>
        <p:spPr>
          <a:xfrm>
            <a:off x="4383938" y="2331720"/>
            <a:ext cx="3423818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8258" y="4114800"/>
            <a:ext cx="28751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94F"/>
                </a:solidFill>
                <a:latin typeface="Inter 18pt"/>
              </a:rPr>
              <a:t>BALSAM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4434840"/>
            <a:ext cx="28751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Roots Conditioner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8258" y="5029200"/>
            <a:ext cx="287517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Pro-Vitamin B5 &amp; antioxidanter.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2331720"/>
            <a:ext cx="342381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s__body-wash.jpg"/>
          <p:cNvPicPr>
            <a:picLocks noChangeAspect="1"/>
          </p:cNvPicPr>
          <p:nvPr/>
        </p:nvPicPr>
        <p:blipFill>
          <a:blip r:embed="rId4"/>
          <a:srcRect t="14947" b="14947"/>
          <a:stretch>
            <a:fillRect/>
          </a:stretch>
        </p:blipFill>
        <p:spPr>
          <a:xfrm>
            <a:off x="8127796" y="2331720"/>
            <a:ext cx="3423818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02116" y="4114800"/>
            <a:ext cx="287517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794F"/>
                </a:solidFill>
                <a:latin typeface="Inter 18pt"/>
              </a:rPr>
              <a:t>BODY WASH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4434840"/>
            <a:ext cx="28751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1D1B"/>
                </a:solidFill>
                <a:latin typeface="Alan Sans"/>
              </a:rPr>
              <a:t>Roots Body Wash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5029200"/>
            <a:ext cx="287517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Mild, sulfatsnål rengöring.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13 · PRODUKTER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14 · FLÖDE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Steg för steg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Registrera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7943" y="303580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5687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1719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1719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Sätt mål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5262" y="303580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6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9038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9038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Bjud 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2581" y="303580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0325" y="265176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6357" y="283464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6357" y="321868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Sälj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Följ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7943" y="472744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5687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1719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1719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Avsluta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5262" y="472744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6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9038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9038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Lever 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2581" y="4727448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A491"/>
                </a:solidFill>
                <a:latin typeface="Alan Sans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0325" y="4343400"/>
            <a:ext cx="2512999" cy="1234440"/>
          </a:xfrm>
          <a:prstGeom prst="roundRect">
            <a:avLst>
              <a:gd name="adj" fmla="val 12000"/>
            </a:avLst>
          </a:prstGeom>
          <a:solidFill>
            <a:srgbClr val="E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6357" y="4526280"/>
            <a:ext cx="2055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1BF99"/>
                </a:solidFill>
                <a:latin typeface="Alan San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76357" y="4910328"/>
            <a:ext cx="20557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1D1B"/>
                </a:solidFill>
                <a:latin typeface="Alan Sans"/>
              </a:rPr>
              <a:t>Redovisa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14 · FLÖDE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15 · SKÄRMAR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Visa upp plattformen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23818" cy="31089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s__collection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50008"/>
            <a:ext cx="3204362" cy="2136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51383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7959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Live-statistik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240280"/>
            <a:ext cx="3423818" cy="31089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s__collection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666" y="2350008"/>
            <a:ext cx="3204362" cy="21369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3938" y="551383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Säljarsida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938" y="587959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Personlig shop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240280"/>
            <a:ext cx="3423818" cy="31089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s__collection-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524" y="2350008"/>
            <a:ext cx="3204362" cy="21369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27796" y="551383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D1D1B"/>
                </a:solidFill>
                <a:latin typeface="Alan Sans"/>
              </a:rPr>
              <a:t>Rapport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5879592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715B"/>
                </a:solidFill>
                <a:latin typeface="Inter 18pt"/>
              </a:rPr>
              <a:t>Efter perioden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15 · SKÄRMAR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94F"/>
                </a:solidFill>
                <a:latin typeface="Inter 18pt"/>
              </a:rPr>
              <a:t>MALL 16 · STOR SIFFRA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6B794F"/>
                </a:solidFill>
                <a:latin typeface="Alan Sans"/>
              </a:rPr>
              <a:t>35 %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D1D1B"/>
                </a:solidFill>
                <a:latin typeface="Alan Sans"/>
              </a:rPr>
              <a:t>tillbaka till föreningen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521208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15B"/>
                </a:solidFill>
                <a:latin typeface="Inter 18pt"/>
              </a:rPr>
              <a:t>När en enda siffra är hela poängen — låt den ta plats.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16 · STOR SIFFRA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17 · TIDSLINJE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Så ser resan ut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1640" y="3794760"/>
            <a:ext cx="8899855" cy="32004"/>
          </a:xfrm>
          <a:prstGeom prst="rect">
            <a:avLst/>
          </a:prstGeom>
          <a:solidFill>
            <a:srgbClr val="B2A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72768" y="3692888"/>
            <a:ext cx="237744" cy="237744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794F"/>
                </a:solidFill>
                <a:latin typeface="Alan Sans"/>
              </a:rPr>
              <a:t>Vecka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Registrera förening &amp; sätt mål</a:t>
            </a:r>
          </a:p>
        </p:txBody>
      </p:sp>
      <p:sp>
        <p:nvSpPr>
          <p:cNvPr id="9" name="Oval 8"/>
          <p:cNvSpPr/>
          <p:nvPr/>
        </p:nvSpPr>
        <p:spPr>
          <a:xfrm>
            <a:off x="4539386" y="3692888"/>
            <a:ext cx="237744" cy="237744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538" y="25603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794F"/>
                </a:solidFill>
                <a:latin typeface="Alan Sans"/>
              </a:rPr>
              <a:t>Vecka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9538" y="416052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Bjud in säljare, kickoff</a:t>
            </a:r>
          </a:p>
        </p:txBody>
      </p:sp>
      <p:sp>
        <p:nvSpPr>
          <p:cNvPr id="12" name="Oval 11"/>
          <p:cNvSpPr/>
          <p:nvPr/>
        </p:nvSpPr>
        <p:spPr>
          <a:xfrm>
            <a:off x="7506004" y="3692888"/>
            <a:ext cx="237744" cy="237744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6156" y="25603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794F"/>
                </a:solidFill>
                <a:latin typeface="Alan Sans"/>
              </a:rPr>
              <a:t>Vecka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6156" y="416052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Säljperiod – följ live</a:t>
            </a:r>
          </a:p>
        </p:txBody>
      </p:sp>
      <p:sp>
        <p:nvSpPr>
          <p:cNvPr id="15" name="Oval 14"/>
          <p:cNvSpPr/>
          <p:nvPr/>
        </p:nvSpPr>
        <p:spPr>
          <a:xfrm>
            <a:off x="10472623" y="3692888"/>
            <a:ext cx="237744" cy="237744"/>
          </a:xfrm>
          <a:prstGeom prst="ellipse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2775" y="256032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794F"/>
                </a:solidFill>
                <a:latin typeface="Alan Sans"/>
              </a:rPr>
              <a:t>Vecka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2775" y="416052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F715B"/>
                </a:solidFill>
                <a:latin typeface="Inter 18pt"/>
              </a:rPr>
              <a:t>Avslut, leverans &amp; redovisning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17 · TIDSLINJE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18 · TABELL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Jämför alternativen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423160"/>
          <a:ext cx="10911535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Inter 18pt"/>
                        </a:rPr>
                        <a:t/>
                      </a:r>
                    </a:p>
                  </a:txBody>
                  <a:tcPr anchor="ctr" marL="164592" marR="91440">
                    <a:solidFill>
                      <a:srgbClr val="6B7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Inter 18pt"/>
                        </a:rPr>
                        <a:t>Roots</a:t>
                      </a:r>
                    </a:p>
                  </a:txBody>
                  <a:tcPr anchor="ctr" marL="164592" marR="91440">
                    <a:solidFill>
                      <a:srgbClr val="6B79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Inter 18pt"/>
                        </a:rPr>
                        <a:t>Traditionell försäljning</a:t>
                      </a:r>
                    </a:p>
                  </a:txBody>
                  <a:tcPr anchor="ctr" marL="164592" marR="91440">
                    <a:solidFill>
                      <a:srgbClr val="6B79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1D1B"/>
                          </a:solidFill>
                          <a:latin typeface="Inter 18pt"/>
                        </a:rPr>
                        <a:t>Förtjänst till föreningen</a:t>
                      </a:r>
                    </a:p>
                  </a:txBody>
                  <a:tcPr anchor="ctr" marL="164592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715B"/>
                          </a:solidFill>
                          <a:latin typeface="Inter 18pt"/>
                        </a:rPr>
                        <a:t>35 %</a:t>
                      </a:r>
                    </a:p>
                  </a:txBody>
                  <a:tcPr anchor="ctr" marL="164592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715B"/>
                          </a:solidFill>
                          <a:latin typeface="Inter 18pt"/>
                        </a:rPr>
                        <a:t>20–25 %</a:t>
                      </a:r>
                    </a:p>
                  </a:txBody>
                  <a:tcPr anchor="ctr" marL="164592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1D1B"/>
                          </a:solidFill>
                          <a:latin typeface="Inter 18pt"/>
                        </a:rPr>
                        <a:t>Uppstartskostnad</a:t>
                      </a:r>
                    </a:p>
                  </a:txBody>
                  <a:tcPr anchor="ctr" marL="164592" marR="9144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715B"/>
                          </a:solidFill>
                          <a:latin typeface="Inter 18pt"/>
                        </a:rPr>
                        <a:t>0 kr</a:t>
                      </a:r>
                    </a:p>
                  </a:txBody>
                  <a:tcPr anchor="ctr" marL="164592" marR="9144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715B"/>
                          </a:solidFill>
                          <a:latin typeface="Inter 18pt"/>
                        </a:rPr>
                        <a:t>Lager i förskott</a:t>
                      </a:r>
                    </a:p>
                  </a:txBody>
                  <a:tcPr anchor="ctr" marL="164592" marR="91440">
                    <a:solidFill>
                      <a:srgbClr val="EDF1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1D1B"/>
                          </a:solidFill>
                          <a:latin typeface="Inter 18pt"/>
                        </a:rPr>
                        <a:t>Administration</a:t>
                      </a:r>
                    </a:p>
                  </a:txBody>
                  <a:tcPr anchor="ctr" marL="164592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715B"/>
                          </a:solidFill>
                          <a:latin typeface="Inter 18pt"/>
                        </a:rPr>
                        <a:t>Digital, automatisk</a:t>
                      </a:r>
                    </a:p>
                  </a:txBody>
                  <a:tcPr anchor="ctr" marL="164592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715B"/>
                          </a:solidFill>
                          <a:latin typeface="Inter 18pt"/>
                        </a:rPr>
                        <a:t>Manuell</a:t>
                      </a:r>
                    </a:p>
                  </a:txBody>
                  <a:tcPr anchor="ctr" marL="164592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D1D1B"/>
                          </a:solidFill>
                          <a:latin typeface="Inter 18pt"/>
                        </a:rPr>
                        <a:t>Produkt att återköpa</a:t>
                      </a:r>
                    </a:p>
                  </a:txBody>
                  <a:tcPr anchor="ctr" marL="164592" marR="9144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715B"/>
                          </a:solidFill>
                          <a:latin typeface="Inter 18pt"/>
                        </a:rPr>
                        <a:t>Ja</a:t>
                      </a:r>
                    </a:p>
                  </a:txBody>
                  <a:tcPr anchor="ctr" marL="164592" marR="91440"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715B"/>
                          </a:solidFill>
                          <a:latin typeface="Inter 18pt"/>
                        </a:rPr>
                        <a:t>Sällan</a:t>
                      </a:r>
                    </a:p>
                  </a:txBody>
                  <a:tcPr anchor="ctr" marL="164592" marR="91440">
                    <a:solidFill>
                      <a:srgbClr val="EDF1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18 · TABELL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B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F715B"/>
                </a:solidFill>
                <a:latin typeface="Inter 18pt"/>
              </a:rPr>
              <a:t>MALL 19 ·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42416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D1D1B"/>
                </a:solidFill>
                <a:latin typeface="Alan Sans"/>
              </a:rPr>
              <a:t>Vilka vi är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423818" cy="274320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s__collection-1.jpg"/>
          <p:cNvPicPr>
            <a:picLocks noChangeAspect="1"/>
          </p:cNvPicPr>
          <p:nvPr/>
        </p:nvPicPr>
        <p:blipFill>
          <a:blip r:embed="rId2"/>
          <a:srcRect l="8383" r="8383"/>
          <a:stretch>
            <a:fillRect/>
          </a:stretch>
        </p:blipFill>
        <p:spPr>
          <a:xfrm>
            <a:off x="640081" y="2468881"/>
            <a:ext cx="3423816" cy="27431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413248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Namn Efternamn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15584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794F"/>
                </a:solidFill>
                <a:latin typeface="Inter 18pt"/>
              </a:rPr>
              <a:t>GRUNDARE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2468880"/>
            <a:ext cx="3423818" cy="274320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s__collection-3.jpg"/>
          <p:cNvPicPr>
            <a:picLocks noChangeAspect="1"/>
          </p:cNvPicPr>
          <p:nvPr/>
        </p:nvPicPr>
        <p:blipFill>
          <a:blip r:embed="rId3"/>
          <a:srcRect l="8396" r="8396"/>
          <a:stretch>
            <a:fillRect/>
          </a:stretch>
        </p:blipFill>
        <p:spPr>
          <a:xfrm>
            <a:off x="4383939" y="2468881"/>
            <a:ext cx="3423816" cy="27431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3938" y="5413248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Namn Efternamn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3938" y="5815584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794F"/>
                </a:solidFill>
                <a:latin typeface="Inter 18pt"/>
              </a:rPr>
              <a:t>GRUNDARE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68880"/>
            <a:ext cx="3423818" cy="274320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s__collection-4.jpg"/>
          <p:cNvPicPr>
            <a:picLocks noChangeAspect="1"/>
          </p:cNvPicPr>
          <p:nvPr/>
        </p:nvPicPr>
        <p:blipFill>
          <a:blip r:embed="rId4"/>
          <a:srcRect l="8383" r="8383"/>
          <a:stretch>
            <a:fillRect/>
          </a:stretch>
        </p:blipFill>
        <p:spPr>
          <a:xfrm>
            <a:off x="8127797" y="2468881"/>
            <a:ext cx="3423816" cy="27431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27796" y="5413248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D1D1B"/>
                </a:solidFill>
                <a:latin typeface="Alan Sans"/>
              </a:rPr>
              <a:t>Namn Efternamn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5815584"/>
            <a:ext cx="342381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794F"/>
                </a:solidFill>
                <a:latin typeface="Inter 18pt"/>
              </a:rPr>
              <a:t>GRUNDARE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715B"/>
                </a:solidFill>
                <a:latin typeface="Alan Sans"/>
              </a:rPr>
              <a:t>ROOTS</a:t>
            </a:r>
            <a:r>
              <a:rPr sz="1000" b="0">
                <a:solidFill>
                  <a:srgbClr val="B2A491"/>
                </a:solidFill>
                <a:latin typeface="Inter 18pt"/>
              </a:rPr>
              <a:t>   ·   Presentationsmallar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23015" y="635508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2A491"/>
                </a:solidFill>
                <a:latin typeface="Inter 18pt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19 · TEAM (BYT UT FOTON)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1B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s-symbo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7724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" y="265176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Alan Sans"/>
              </a:rPr>
              <a:t>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1BF99"/>
                </a:solidFill>
                <a:latin typeface="Inter 18pt"/>
              </a:rPr>
              <a:t>Frågor &amp; nästa steg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535" y="365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2A491"/>
                </a:solidFill>
                <a:latin typeface="Inter 18pt"/>
              </a:rPr>
              <a:t>MALL 20 · AVSLUTNING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