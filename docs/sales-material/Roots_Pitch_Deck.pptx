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s-logo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16256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D1D1B"/>
                </a:solidFill>
                <a:latin typeface="Alan Sans"/>
              </a:rPr>
              <a:t>Samla in pengar med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D1D1B"/>
                </a:solidFill>
                <a:latin typeface="Alan Sans"/>
              </a:rPr>
              <a:t>produkter folk faktiskt vill ha </a:t>
            </a:r>
            <a:r>
              <a:rPr sz="4000" b="1">
                <a:solidFill>
                  <a:srgbClr val="6B794F"/>
                </a:solidFill>
                <a:latin typeface="Alan Sans"/>
              </a:rPr>
              <a:t>igen.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48056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7F715B"/>
                </a:solidFill>
                <a:latin typeface="Inter 18pt"/>
              </a:rPr>
              <a:t>Nordisk hår- och hudvård i premiumklass – forskningsförankrad, snäll mot håret, och gjord för att stärka svenskt föreningsliv.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9436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2A491"/>
                </a:solidFill>
                <a:latin typeface="Inter 18pt"/>
              </a:rPr>
              <a:t>Ett förslag till er förening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UTGÅNGSLÄGET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024128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1D1B"/>
                </a:solidFill>
                <a:latin typeface="Alan Sans"/>
              </a:rPr>
              <a:t>Föreningskassan behöver fyllas –
men sortimentet inspirerar inte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51760"/>
            <a:ext cx="35204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CA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2926080"/>
            <a:ext cx="292608" cy="292608"/>
          </a:xfrm>
          <a:prstGeom prst="ellipse">
            <a:avLst/>
          </a:prstGeom>
          <a:solidFill>
            <a:srgbClr val="E1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4290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1D1B"/>
                </a:solidFill>
                <a:latin typeface="Alan Sans"/>
              </a:rPr>
              <a:t>Engångsköp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977639"/>
            <a:ext cx="2880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7F715B"/>
                </a:solidFill>
                <a:latin typeface="Inter 18pt"/>
              </a:rPr>
              <a:t>Strumpor, godis, toapapper och rabatthäften säljs en gång. Ingen återkommer av kärlek till varumärket.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2651760"/>
            <a:ext cx="35204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CA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5152" y="2926080"/>
            <a:ext cx="292608" cy="292608"/>
          </a:xfrm>
          <a:prstGeom prst="ellipse">
            <a:avLst/>
          </a:prstGeom>
          <a:solidFill>
            <a:srgbClr val="E1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34290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1D1B"/>
                </a:solidFill>
                <a:latin typeface="Alan Sans"/>
              </a:rPr>
              <a:t>Lågt engagemang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3977639"/>
            <a:ext cx="2880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7F715B"/>
                </a:solidFill>
                <a:latin typeface="Inter 18pt"/>
              </a:rPr>
              <a:t>Det är svårt att känna stolthet över att sälja något man inte själv längtar efter.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2651760"/>
            <a:ext cx="35204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CA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30184" y="2926080"/>
            <a:ext cx="292608" cy="292608"/>
          </a:xfrm>
          <a:prstGeom prst="ellipse">
            <a:avLst/>
          </a:prstGeom>
          <a:solidFill>
            <a:srgbClr val="E1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4" y="34290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1D1B"/>
                </a:solidFill>
                <a:latin typeface="Alan Sans"/>
              </a:rPr>
              <a:t>Pressad marginal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4" y="3977639"/>
            <a:ext cx="2880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7F715B"/>
                </a:solidFill>
                <a:latin typeface="Inter 18pt"/>
              </a:rPr>
              <a:t>Låg prislapp ger lite per sälj – det krävs många ordrar för att fylla kassan.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6072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B794F"/>
                </a:solidFill>
                <a:latin typeface="Inter 18pt"/>
              </a:rPr>
              <a:t>Marknaden är enorm – Newbody ensamt har samlat in över 1,7 miljarder kr. Frågan är inte OM man ska sälja, utan VAD.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Riktigt bra produkter. Starkare föreningsliv.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1BF99"/>
                </a:solidFill>
                <a:latin typeface="Inter 18pt"/>
              </a:rPr>
              <a:t>VÅRT SVAR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51560"/>
            <a:ext cx="107899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Alan Sans"/>
              </a:rPr>
              <a:t>Sälj något folk använder varje dag –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C1BF99"/>
                </a:solidFill>
                <a:latin typeface="Alan Sans"/>
              </a:rPr>
              <a:t>och kommer tillbaka till.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46120"/>
            <a:ext cx="256032" cy="256032"/>
          </a:xfrm>
          <a:prstGeom prst="ellipse">
            <a:avLst/>
          </a:prstGeom>
          <a:solidFill>
            <a:srgbClr val="C1B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154680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lan Sans"/>
              </a:rPr>
              <a:t>Premium, inte commodity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566160"/>
            <a:ext cx="4800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5CABF"/>
                </a:solidFill>
                <a:latin typeface="Inter 18pt"/>
              </a:rPr>
              <a:t>Hudvård och hårvård i butiksklass som kunden faktiskt vill ha.</a:t>
            </a:r>
          </a:p>
        </p:txBody>
      </p:sp>
      <p:sp>
        <p:nvSpPr>
          <p:cNvPr id="8" name="Oval 7"/>
          <p:cNvSpPr/>
          <p:nvPr/>
        </p:nvSpPr>
        <p:spPr>
          <a:xfrm>
            <a:off x="6309360" y="3246120"/>
            <a:ext cx="256032" cy="256032"/>
          </a:xfrm>
          <a:prstGeom prst="ellipse">
            <a:avLst/>
          </a:prstGeom>
          <a:solidFill>
            <a:srgbClr val="C1B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3154680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lan Sans"/>
              </a:rPr>
              <a:t>Återkommande intäkter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566160"/>
            <a:ext cx="4800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5CABF"/>
                </a:solidFill>
                <a:latin typeface="Inter 18pt"/>
              </a:rPr>
              <a:t>När flaskan tar slut kommer kunden tillbaka – försäljning blir flöde, inte engångs.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663440"/>
            <a:ext cx="256032" cy="256032"/>
          </a:xfrm>
          <a:prstGeom prst="ellipse">
            <a:avLst/>
          </a:prstGeom>
          <a:solidFill>
            <a:srgbClr val="C1B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572000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lan Sans"/>
              </a:rPr>
              <a:t>Forskningsförankrat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983480"/>
            <a:ext cx="4800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5CABF"/>
                </a:solidFill>
                <a:latin typeface="Inter 18pt"/>
              </a:rPr>
              <a:t>Certifierade aktiver (NATRUE/COSMOS) och en ärlig berättelse om hudbottens balans.</a:t>
            </a:r>
          </a:p>
        </p:txBody>
      </p:sp>
      <p:sp>
        <p:nvSpPr>
          <p:cNvPr id="14" name="Oval 13"/>
          <p:cNvSpPr/>
          <p:nvPr/>
        </p:nvSpPr>
        <p:spPr>
          <a:xfrm>
            <a:off x="6309360" y="4663440"/>
            <a:ext cx="256032" cy="256032"/>
          </a:xfrm>
          <a:prstGeom prst="ellipse">
            <a:avLst/>
          </a:prstGeom>
          <a:solidFill>
            <a:srgbClr val="C1B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4572000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lan Sans"/>
              </a:rPr>
              <a:t>Nordiskt och schysst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983480"/>
            <a:ext cx="4800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5CABF"/>
                </a:solidFill>
                <a:latin typeface="Inter 18pt"/>
              </a:rPr>
              <a:t>Snällt mot håret och naturen – och varje flaska stöttar er förening.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SORTIMENTET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024128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1D1B"/>
                </a:solidFill>
                <a:latin typeface="Alan Sans"/>
              </a:rPr>
              <a:t>Tre formuleringar, en filosofi</a:t>
            </a:r>
          </a:p>
        </p:txBody>
      </p:sp>
      <p:pic>
        <p:nvPicPr>
          <p:cNvPr id="4" name="Picture 3" descr="product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95" y="2194560"/>
            <a:ext cx="10575329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F715B"/>
                </a:solidFill>
                <a:latin typeface="Inter 18pt"/>
              </a:rPr>
              <a:t>Rengör mjukt · lugnar hudbotten · lämnar håret starkare. Sulfatsnålt och biologiskt nedbrytbart.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Riktigt bra produkter. Starkare föreningsliv.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DET SOM GÖR OSS ANNORLUNDA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024128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1D1B"/>
                </a:solidFill>
                <a:latin typeface="Alan Sans"/>
              </a:rPr>
              <a:t>Vi jobbar med hudbotten – inte emot 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7F715B"/>
                </a:solidFill>
                <a:latin typeface="Inter 18pt"/>
              </a:rPr>
              <a:t>Håret växer ur en levande hudbotten. Två små system håller den i balans – och Roots är gjort för att stötta dem.</a:t>
            </a:r>
          </a:p>
        </p:txBody>
      </p:sp>
      <p:pic>
        <p:nvPicPr>
          <p:cNvPr id="5" name="Picture 4" descr="ecs_microbi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498" y="2697480"/>
            <a:ext cx="6924524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Riktigt bra produkter. Starkare föreningsliv.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TRE PELARE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024128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1D1B"/>
                </a:solidFill>
                <a:latin typeface="Alan Sans"/>
              </a:rPr>
              <a:t>Lugn, fukt och skydd – där håret börjar</a:t>
            </a:r>
          </a:p>
        </p:txBody>
      </p:sp>
      <p:pic>
        <p:nvPicPr>
          <p:cNvPr id="4" name="Picture 3" descr="science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385" y="2103120"/>
            <a:ext cx="6008749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Riktigt bra produkter. Starkare föreningsliv.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NYCKELINGREDIENSER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024128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1D1B"/>
                </a:solidFill>
                <a:latin typeface="Alan Sans"/>
              </a:rPr>
              <a:t>Få ingredienser – de som finns gör jobbet</a:t>
            </a:r>
          </a:p>
        </p:txBody>
      </p:sp>
      <p:pic>
        <p:nvPicPr>
          <p:cNvPr id="4" name="Picture 3" descr="ingredient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10881360" cy="34595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F715B"/>
                </a:solidFill>
                <a:latin typeface="Inter 18pt"/>
              </a:rPr>
              <a:t>SyriCalm och MultiMoist är certifierade enligt NATRUE och COSMOS – oberoende standarder för naturlig kosmetik.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Riktigt bra produkter. Starkare föreningsliv.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VARFÖR DET SÄLJER BÄTTRE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024128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1D1B"/>
                </a:solidFill>
                <a:latin typeface="Alan Sans"/>
              </a:rPr>
              <a:t>En öppen flank på en stor marknad</a:t>
            </a:r>
          </a:p>
        </p:txBody>
      </p:sp>
      <p:pic>
        <p:nvPicPr>
          <p:cNvPr id="4" name="Picture 3" descr="positioning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5203575" cy="429768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858000" y="2322576"/>
            <a:ext cx="237744" cy="237744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42048" y="2231136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1D1B"/>
                </a:solidFill>
                <a:latin typeface="Alan Sans"/>
              </a:rPr>
              <a:t>Högre ordervärde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42048" y="265176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7F715B"/>
                </a:solidFill>
                <a:latin typeface="Inter 18pt"/>
              </a:rPr>
              <a:t>En riktigt bra produkt ger större ordrar – mer i kassan per sälj.</a:t>
            </a:r>
          </a:p>
        </p:txBody>
      </p:sp>
      <p:sp>
        <p:nvSpPr>
          <p:cNvPr id="8" name="Oval 7"/>
          <p:cNvSpPr/>
          <p:nvPr/>
        </p:nvSpPr>
        <p:spPr>
          <a:xfrm>
            <a:off x="6858000" y="3602736"/>
            <a:ext cx="237744" cy="237744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42048" y="3511296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1D1B"/>
                </a:solidFill>
                <a:latin typeface="Alan Sans"/>
              </a:rPr>
              <a:t>Återkommande köp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2048" y="393192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7F715B"/>
                </a:solidFill>
                <a:latin typeface="Inter 18pt"/>
              </a:rPr>
              <a:t>Hudvård tar slut. Kunden kommer tillbaka – utrymme för prenumeration.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0" y="4882896"/>
            <a:ext cx="237744" cy="237744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42048" y="4791456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1D1B"/>
                </a:solidFill>
                <a:latin typeface="Alan Sans"/>
              </a:rPr>
              <a:t>Lätt att sälja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2048" y="521208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7F715B"/>
                </a:solidFill>
                <a:latin typeface="Inter 18pt"/>
              </a:rPr>
              <a:t>Det är roligare att sälja något man är stolt över. Stolthet smittar.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Riktigt bra produkter. Starkare föreningsliv.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VAD DET GER FÖRENINGEN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024128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1D1B"/>
                </a:solidFill>
                <a:latin typeface="Alan Sans"/>
              </a:rPr>
              <a:t>Premium ger mer i kassan över tid</a:t>
            </a:r>
          </a:p>
        </p:txBody>
      </p:sp>
      <p:pic>
        <p:nvPicPr>
          <p:cNvPr id="4" name="Picture 3" descr="value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998" y="2194560"/>
            <a:ext cx="6129523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F715B"/>
                </a:solidFill>
                <a:latin typeface="Inter 18pt"/>
              </a:rPr>
              <a:t>Illustrativt: även med rimlig marginal ger högre ordervärde + återköp mer än ett billigt engångsköp.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Riktigt bra produkter. Starkare föreningsliv.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SÅ GÅR DET TILL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024128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1D1B"/>
                </a:solidFill>
                <a:latin typeface="Alan Sans"/>
              </a:rPr>
              <a:t>Digitalt, enkelt och utan risk</a:t>
            </a:r>
          </a:p>
        </p:txBody>
      </p:sp>
      <p:pic>
        <p:nvPicPr>
          <p:cNvPr id="4" name="Picture 3" descr="sales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105" y="2286000"/>
            <a:ext cx="8893310" cy="2194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120640"/>
            <a:ext cx="1952244" cy="502920"/>
          </a:xfrm>
          <a:prstGeom prst="roundRect">
            <a:avLst>
              <a:gd name="adj" fmla="val 6000"/>
            </a:avLst>
          </a:prstGeom>
          <a:solidFill>
            <a:srgbClr val="F1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157216"/>
            <a:ext cx="195224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1D1B"/>
                </a:solidFill>
                <a:latin typeface="Inter 18pt"/>
              </a:rPr>
              <a:t>Ingen startavgift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75204" y="5120640"/>
            <a:ext cx="2162556" cy="502920"/>
          </a:xfrm>
          <a:prstGeom prst="roundRect">
            <a:avLst>
              <a:gd name="adj" fmla="val 6000"/>
            </a:avLst>
          </a:prstGeom>
          <a:solidFill>
            <a:srgbClr val="F1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75204" y="5157216"/>
            <a:ext cx="216255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1D1B"/>
                </a:solidFill>
                <a:latin typeface="Inter 18pt"/>
              </a:rPr>
              <a:t>Personlig länk + QR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5120640"/>
            <a:ext cx="1636776" cy="502920"/>
          </a:xfrm>
          <a:prstGeom prst="roundRect">
            <a:avLst>
              <a:gd name="adj" fmla="val 6000"/>
            </a:avLst>
          </a:prstGeom>
          <a:solidFill>
            <a:srgbClr val="F1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5157216"/>
            <a:ext cx="163677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1D1B"/>
                </a:solidFill>
                <a:latin typeface="Inter 18pt"/>
              </a:rPr>
              <a:t>Klarna &amp; Swish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0296" y="5120640"/>
            <a:ext cx="1952244" cy="502920"/>
          </a:xfrm>
          <a:prstGeom prst="roundRect">
            <a:avLst>
              <a:gd name="adj" fmla="val 6000"/>
            </a:avLst>
          </a:prstGeom>
          <a:solidFill>
            <a:srgbClr val="F1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0296" y="5157216"/>
            <a:ext cx="195224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1D1B"/>
                </a:solidFill>
                <a:latin typeface="Inter 18pt"/>
              </a:rPr>
              <a:t>Realtid i panelen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5420" y="5120640"/>
            <a:ext cx="2478024" cy="502920"/>
          </a:xfrm>
          <a:prstGeom prst="roundRect">
            <a:avLst>
              <a:gd name="adj" fmla="val 6000"/>
            </a:avLst>
          </a:prstGeom>
          <a:solidFill>
            <a:srgbClr val="F1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5420" y="5157216"/>
            <a:ext cx="247802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1D1B"/>
                </a:solidFill>
                <a:latin typeface="Inter 18pt"/>
              </a:rPr>
              <a:t>Faktura efter leverans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Riktigt bra produkter. Starkare föreningsliv.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1BF99"/>
                </a:solidFill>
                <a:latin typeface="Inter 18pt"/>
              </a:rPr>
              <a:t>VÅRT VARFÖR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280160"/>
            <a:ext cx="107899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Alan Sans"/>
              </a:rPr>
              <a:t>Vi vill bevisa att man kan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C1BF99"/>
                </a:solidFill>
                <a:latin typeface="Alan Sans"/>
              </a:rPr>
              <a:t>göra gott och sälja riktigt bra saker.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D5CABF"/>
                </a:solidFill>
                <a:latin typeface="Inter 18pt"/>
              </a:rPr>
              <a:t>Varje flaska som säljs ger pengar till en förening i Sverige – och en bättre dag för någons hår. Inga genvägar på kvaliteten, inga överdrifter i löftena. Bara nordisk omtanke, från hudbotten och 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s-symbol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05840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4688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1D1D1B"/>
                </a:solidFill>
                <a:latin typeface="Alan Sans"/>
              </a:rPr>
              <a:t>Ska vi fylla er kassa –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6B794F"/>
                </a:solidFill>
                <a:latin typeface="Alan Sans"/>
              </a:rPr>
              <a:t>och ge era medlemmar bättre hår?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7F715B"/>
                </a:solidFill>
                <a:latin typeface="Inter 18pt"/>
              </a:rPr>
              <a:t>Vi hjälper er igång på under fem minuter. Ingen startavgift, ingen bindningstid – ni betalar först när produkterna är sålda och levererade.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18304" y="5394960"/>
            <a:ext cx="2743200" cy="640080"/>
          </a:xfrm>
          <a:prstGeom prst="roundRect">
            <a:avLst>
              <a:gd name="adj" fmla="val 6000"/>
            </a:avLst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18304" y="5477256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nter 18pt"/>
              </a:rPr>
              <a:t>Starta er försäljning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F715B"/>
                </a:solidFill>
                <a:latin typeface="Inter 18pt"/>
              </a:rPr>
              <a:t>roots.se   ·   hej@roots.se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