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s__h1desktop.jpg"/>
          <p:cNvPicPr>
            <a:picLocks noChangeAspect="1"/>
          </p:cNvPicPr>
          <p:nvPr/>
        </p:nvPicPr>
        <p:blipFill>
          <a:blip r:embed="rId2"/>
          <a:srcRect l="24802" r="24802"/>
          <a:stretch>
            <a:fillRect/>
          </a:stretch>
        </p:blipFill>
        <p:spPr>
          <a:xfrm>
            <a:off x="7040880" y="0"/>
            <a:ext cx="51508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040880" y="0"/>
            <a:ext cx="54864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oots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77240"/>
            <a:ext cx="146304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2148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INTERNT · SÄLJKICKOFF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6035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D1D1B"/>
                </a:solidFill>
                <a:latin typeface="Alan Sans"/>
              </a:rPr>
              <a:t>Från noll till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6B794F"/>
                </a:solidFill>
                <a:latin typeface="Alan Sans"/>
              </a:rPr>
              <a:t>första föreningen.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434840"/>
            <a:ext cx="5669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7F715B"/>
                </a:solidFill>
                <a:latin typeface="Inter 18pt"/>
              </a:rPr>
              <a:t>One team. Vi bygger affären tillsammans – och stärker föreningslivet på riktigt.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DAGENS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Nio hållplatser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67712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1343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Samling &amp; nuläge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0896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546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Vart ska vi?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950208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95928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Strategi &amp; marknad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791456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37176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Plan &amp; aktiviteter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32704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678424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Erbjudandet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67712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2" y="231343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System &amp; processer – ax till limpa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10896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31546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Förutsättningar för säljarna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950208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2592" y="3995928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Organisation &amp; samarbete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791456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837176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Avslutning &amp; beslut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B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s-symbo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4008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9456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C1BF99"/>
                </a:solidFill>
                <a:latin typeface="Alan San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lan Sans"/>
              </a:rPr>
              <a:t>Samling &amp; nuläge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611880"/>
            <a:ext cx="1280160" cy="4572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1BF99"/>
                </a:solidFill>
                <a:latin typeface="Alan Sans"/>
              </a:rPr>
              <a:t>ROOTS</a:t>
            </a:r>
            <a:r>
              <a:rPr sz="1000" b="0">
                <a:solidFill>
                  <a:srgbClr val="D5CABF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CABF"/>
                </a:solidFill>
                <a:latin typeface="Inter 18pt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01 · SAMLING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One team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55117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Vilka är vi i rummet – och vad tar vi med oss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46557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Gemensam bild av läget just nu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37997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Samma arbetssätt, samma argument, samma snäck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01 · NULÄGE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Där vi står idag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Bolag &amp; finansiering på plats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20954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2724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Varumärke &amp; produkter klara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05079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6849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Plattformen är byggd och live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89204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0974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Nu: ut och sälj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B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s-symbo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4008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9456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C1BF99"/>
                </a:solidFill>
                <a:latin typeface="Alan San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lan Sans"/>
              </a:rPr>
              <a:t>Vart ska vi?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611880"/>
            <a:ext cx="1280160" cy="4572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1BF99"/>
                </a:solidFill>
                <a:latin typeface="Alan Sans"/>
              </a:rPr>
              <a:t>ROOTS</a:t>
            </a:r>
            <a:r>
              <a:rPr sz="1000" b="0">
                <a:solidFill>
                  <a:srgbClr val="D5CABF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CABF"/>
                </a:solidFill>
                <a:latin typeface="Inter 18pt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02 · MÅLBILD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Fram till årsskiftet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5–10 alliansöreningar igång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20954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2724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Bevisa konceptet – en lyckad POC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05079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6849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[Antal] sålda paket / [belopp] kr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89204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0974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En spelbok som fungerar och går att skala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94F"/>
                </a:solidFill>
                <a:latin typeface="Inter 18pt"/>
              </a:rPr>
              <a:t>02 ·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468880"/>
            <a:ext cx="104241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D1D1B"/>
                </a:solidFill>
                <a:latin typeface="Alan Sans"/>
              </a:rPr>
              <a:t>Roots om 5 år: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6B794F"/>
                </a:solidFill>
                <a:latin typeface="Alan Sans"/>
              </a:rPr>
              <a:t>självklart sätt att samla in – och bättre hår på köpet.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02 · VARFÖR VI VINNER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Varför vi vinner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Relationer – inte annonser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20954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2724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35 % tillbaka till föreningen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05079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6849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Premium folk vill återköpa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89204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0974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En plattform som gör jobbet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B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s-symbo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4008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9456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C1BF99"/>
                </a:solidFill>
                <a:latin typeface="Alan San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lan Sans"/>
              </a:rPr>
              <a:t>Strategi &amp; marknad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611880"/>
            <a:ext cx="1280160" cy="4572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1BF99"/>
                </a:solidFill>
                <a:latin typeface="Alan Sans"/>
              </a:rPr>
              <a:t>ROOTS</a:t>
            </a:r>
            <a:r>
              <a:rPr sz="1000" b="0">
                <a:solidFill>
                  <a:srgbClr val="D5CABF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CABF"/>
                </a:solidFill>
                <a:latin typeface="Inter 18pt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03 · MÅLGRUPP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Vilka bearbetar vi?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Idrott först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Fotboll, innebandy, hockey, handboll – stora medlemskårer.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0581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0581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Rätt storlek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0581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Föreningar med många medlemmar och lag.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866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48474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8474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En väg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8474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Där vi redan har relation eller kännedom.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3759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56367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6367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Motorn finns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6367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En drivande eldsjäl som får saker att hända.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03 · PILOT &amp;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Pilot &amp; bevis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5–10 alliansöreningar först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20954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2724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Mindre scope – lägre tröskel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05079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6849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Vad krävs: motor, mål, uppstart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89204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0974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Bevisa → sedan skalar vi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03 · RISKER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Risker vi möter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Trötta föräldrar &amp; säljleda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20954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2724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Leverans &amp; logistik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05079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6849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Att 'motorn' tappar energi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89204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0974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→ vi möter dem med stöd &amp; struktur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B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s-symbo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4008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9456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C1BF99"/>
                </a:solidFill>
                <a:latin typeface="Alan San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lan Sans"/>
              </a:rPr>
              <a:t>Plan &amp; aktiviteter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611880"/>
            <a:ext cx="1280160" cy="4572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1BF99"/>
                </a:solidFill>
                <a:latin typeface="Alan Sans"/>
              </a:rPr>
              <a:t>ROOTS</a:t>
            </a:r>
            <a:r>
              <a:rPr sz="1000" b="0">
                <a:solidFill>
                  <a:srgbClr val="D5CABF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CABF"/>
                </a:solidFill>
                <a:latin typeface="Inter 18pt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04 ·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Planen till årsskiftet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Kickoff → gemensam leadslista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20954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2724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Boka &amp; signa alliansöreningar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05079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6849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Kör pilotperioder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89204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0974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Utvärdera → skala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04 · AKTIVITETSMÅL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Aktivitetsmål per säljare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Möten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[X] bokade säljmöten / vecka.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0581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0581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Signade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0581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[Y] föreningar under hösten.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866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48474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8474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Uppföljning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8474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Veckovis synk &amp; pipeline-genomgång.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3759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56367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6367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CRM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6367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Allt loggas – en sanning för alla.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B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s-symbo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4008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9456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C1BF99"/>
                </a:solidFill>
                <a:latin typeface="Alan San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lan Sans"/>
              </a:rPr>
              <a:t>Erbjudandet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611880"/>
            <a:ext cx="1280160" cy="4572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1BF99"/>
                </a:solidFill>
                <a:latin typeface="Alan Sans"/>
              </a:rPr>
              <a:t>ROOTS</a:t>
            </a:r>
            <a:r>
              <a:rPr sz="1000" b="0">
                <a:solidFill>
                  <a:srgbClr val="D5CABF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CABF"/>
                </a:solidFill>
                <a:latin typeface="Inter 18pt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05 · PRODUKTER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Tre produkter, en filosofi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3423818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s__p1.jpg"/>
          <p:cNvPicPr>
            <a:picLocks noChangeAspect="1"/>
          </p:cNvPicPr>
          <p:nvPr/>
        </p:nvPicPr>
        <p:blipFill>
          <a:blip r:embed="rId2"/>
          <a:srcRect t="32551" b="32551"/>
          <a:stretch>
            <a:fillRect/>
          </a:stretch>
        </p:blipFill>
        <p:spPr>
          <a:xfrm>
            <a:off x="640080" y="2331720"/>
            <a:ext cx="3423818" cy="160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114800"/>
            <a:ext cx="28751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794F"/>
                </a:solidFill>
                <a:latin typeface="Inter 18pt"/>
              </a:rPr>
              <a:t>SCHAMPO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28751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First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287517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7F715B"/>
                </a:solidFill>
                <a:latin typeface="Inter 18pt"/>
              </a:rPr>
              <a:t>SyriCalm® lugnar hårbotten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938" y="2331720"/>
            <a:ext cx="3423818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s__p3.jpg"/>
          <p:cNvPicPr>
            <a:picLocks noChangeAspect="1"/>
          </p:cNvPicPr>
          <p:nvPr/>
        </p:nvPicPr>
        <p:blipFill>
          <a:blip r:embed="rId3"/>
          <a:srcRect t="32551" b="32551"/>
          <a:stretch>
            <a:fillRect/>
          </a:stretch>
        </p:blipFill>
        <p:spPr>
          <a:xfrm>
            <a:off x="4383938" y="2331720"/>
            <a:ext cx="3423818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58258" y="4114800"/>
            <a:ext cx="28751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794F"/>
                </a:solidFill>
                <a:latin typeface="Inter 18pt"/>
              </a:rPr>
              <a:t>BALSAM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8258" y="4434840"/>
            <a:ext cx="28751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Pure Root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8258" y="5029200"/>
            <a:ext cx="287517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7F715B"/>
                </a:solidFill>
                <a:latin typeface="Inter 18pt"/>
              </a:rPr>
              <a:t>Pro-Vitamin B5 &amp; E-vitamin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2331720"/>
            <a:ext cx="3423818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s__p4.jpg"/>
          <p:cNvPicPr>
            <a:picLocks noChangeAspect="1"/>
          </p:cNvPicPr>
          <p:nvPr/>
        </p:nvPicPr>
        <p:blipFill>
          <a:blip r:embed="rId4"/>
          <a:srcRect t="26631" b="26631"/>
          <a:stretch>
            <a:fillRect/>
          </a:stretch>
        </p:blipFill>
        <p:spPr>
          <a:xfrm>
            <a:off x="8127796" y="2331720"/>
            <a:ext cx="3423818" cy="1600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02116" y="4114800"/>
            <a:ext cx="28751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794F"/>
                </a:solidFill>
                <a:latin typeface="Inter 18pt"/>
              </a:rPr>
              <a:t>BODY WASH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2116" y="4434840"/>
            <a:ext cx="28751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Soft Rinse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2116" y="5029200"/>
            <a:ext cx="287517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7F715B"/>
                </a:solidFill>
                <a:latin typeface="Inter 18pt"/>
              </a:rPr>
              <a:t>SyriCalm®, snällt mot huden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05 · SÄLJPRESENTATION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Säljpresentationen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Bygger på 'Why' – inte hård produktsälj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20954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2724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Räknesnurran live i mötet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05079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6849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Låt föreningen säga siffrorna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89204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0974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Finns klar att använda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05 ·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Invändningar &amp; argument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“Vi har redan en leverantör”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20954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2724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“Föräldrarna är trötta”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05079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6849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“399 kr är mycket”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89204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0974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→ vi tränar svaren tillsammans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05 · MARKNADSAVTAL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Marknadsavtal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Vad vi erbjuder alliansöreningar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20954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2724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Basnivå + bonus vid högre nivå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05079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6849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Tydligt och enkelt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89204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0974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Skapar lojalitet över tid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B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s-symbo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4008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9456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C1BF99"/>
                </a:solidFill>
                <a:latin typeface="Alan San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lan Sans"/>
              </a:rPr>
              <a:t>Ax till limpa – så funkar plattformen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611880"/>
            <a:ext cx="1280160" cy="4572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1BF99"/>
                </a:solidFill>
                <a:latin typeface="Alan Sans"/>
              </a:rPr>
              <a:t>ROOTS</a:t>
            </a:r>
            <a:r>
              <a:rPr sz="1000" b="0">
                <a:solidFill>
                  <a:srgbClr val="D5CABF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CABF"/>
                </a:solidFill>
                <a:latin typeface="Inter 18pt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06 · ÖVERBLICK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Hela resan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651760"/>
            <a:ext cx="2512999" cy="1234440"/>
          </a:xfrm>
          <a:prstGeom prst="roundRect">
            <a:avLst>
              <a:gd name="adj" fmla="val 12000"/>
            </a:avLst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2055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1BF99"/>
                </a:solidFill>
                <a:latin typeface="Alan San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18688"/>
            <a:ext cx="2055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1D1B"/>
                </a:solidFill>
                <a:latin typeface="Alan Sans"/>
              </a:rPr>
              <a:t>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7943" y="3035808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2A491"/>
                </a:solidFill>
                <a:latin typeface="Alan Sans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5687" y="2651760"/>
            <a:ext cx="2512999" cy="1234440"/>
          </a:xfrm>
          <a:prstGeom prst="roundRect">
            <a:avLst>
              <a:gd name="adj" fmla="val 12000"/>
            </a:avLst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1719" y="2834640"/>
            <a:ext cx="2055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1BF99"/>
                </a:solidFill>
                <a:latin typeface="Alan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1719" y="3218688"/>
            <a:ext cx="2055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1D1B"/>
                </a:solidFill>
                <a:latin typeface="Alan Sans"/>
              </a:rPr>
              <a:t>Registrering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5262" y="3035808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2A491"/>
                </a:solidFill>
                <a:latin typeface="Alan San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6" y="2651760"/>
            <a:ext cx="2512999" cy="1234440"/>
          </a:xfrm>
          <a:prstGeom prst="roundRect">
            <a:avLst>
              <a:gd name="adj" fmla="val 12000"/>
            </a:avLst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9038" y="2834640"/>
            <a:ext cx="2055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1BF99"/>
                </a:solidFill>
                <a:latin typeface="Alan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9038" y="3218688"/>
            <a:ext cx="2055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1D1B"/>
                </a:solidFill>
                <a:latin typeface="Alan Sans"/>
              </a:rPr>
              <a:t>Kampanj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2581" y="3035808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2A491"/>
                </a:solidFill>
                <a:latin typeface="Alan Sans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0325" y="2651760"/>
            <a:ext cx="2512999" cy="1234440"/>
          </a:xfrm>
          <a:prstGeom prst="roundRect">
            <a:avLst>
              <a:gd name="adj" fmla="val 12000"/>
            </a:avLst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76357" y="2834640"/>
            <a:ext cx="2055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1BF99"/>
                </a:solidFill>
                <a:latin typeface="Alan San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6357" y="3218688"/>
            <a:ext cx="2055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1D1B"/>
                </a:solidFill>
                <a:latin typeface="Alan Sans"/>
              </a:rPr>
              <a:t>Lag &amp; säljare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343400"/>
            <a:ext cx="2512999" cy="1234440"/>
          </a:xfrm>
          <a:prstGeom prst="roundRect">
            <a:avLst>
              <a:gd name="adj" fmla="val 12000"/>
            </a:avLst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2055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1BF99"/>
                </a:solidFill>
                <a:latin typeface="Alan San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10328"/>
            <a:ext cx="2055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1D1B"/>
                </a:solidFill>
                <a:latin typeface="Alan Sans"/>
              </a:rPr>
              <a:t>Personlig shop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7943" y="4727448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2A491"/>
                </a:solidFill>
                <a:latin typeface="Alan Sans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45687" y="4343400"/>
            <a:ext cx="2512999" cy="1234440"/>
          </a:xfrm>
          <a:prstGeom prst="roundRect">
            <a:avLst>
              <a:gd name="adj" fmla="val 12000"/>
            </a:avLst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1719" y="4526280"/>
            <a:ext cx="2055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1BF99"/>
                </a:solidFill>
                <a:latin typeface="Alan San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1719" y="4910328"/>
            <a:ext cx="2055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1D1B"/>
                </a:solidFill>
                <a:latin typeface="Alan Sans"/>
              </a:rPr>
              <a:t>Säljperiod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95262" y="4727448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2A491"/>
                </a:solidFill>
                <a:latin typeface="Alan Sans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6" y="4343400"/>
            <a:ext cx="2512999" cy="1234440"/>
          </a:xfrm>
          <a:prstGeom prst="roundRect">
            <a:avLst>
              <a:gd name="adj" fmla="val 12000"/>
            </a:avLst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9038" y="4526280"/>
            <a:ext cx="2055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1BF99"/>
                </a:solidFill>
                <a:latin typeface="Alan Sans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9038" y="4910328"/>
            <a:ext cx="2055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1D1B"/>
                </a:solidFill>
                <a:latin typeface="Alan Sans"/>
              </a:rPr>
              <a:t>Avräkning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82581" y="4727448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2A491"/>
                </a:solidFill>
                <a:latin typeface="Alan Sans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20325" y="4343400"/>
            <a:ext cx="2512999" cy="1234440"/>
          </a:xfrm>
          <a:prstGeom prst="roundRect">
            <a:avLst>
              <a:gd name="adj" fmla="val 12000"/>
            </a:avLst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76357" y="4526280"/>
            <a:ext cx="2055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1BF99"/>
                </a:solidFill>
                <a:latin typeface="Alan Sans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76357" y="4910328"/>
            <a:ext cx="2055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1D1B"/>
                </a:solidFill>
                <a:latin typeface="Alan Sans"/>
              </a:rPr>
              <a:t>Utbetalning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06 · STEG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Säljaren &amp; föreningen sätter upp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Säljare skapar lead i CRM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20954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2724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Föreningen registrerar sig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05079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6849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Kampanj: mål, säljperiod, leveranstyp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89204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0974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35 % till föreningen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06 · STEG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Lag &amp; säljare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Bjud in lagansvarig (länk, 14 dagar)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20954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2724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Säljare via länk ELLER Excel-import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05079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6849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Varje säljare får egen shop + QR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89204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0974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Mål på tre nivåer: klubb / lag / individ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06 · SÅ SER DET 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Så ser det 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23818" cy="310896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mo__forening-po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316" y="2350008"/>
            <a:ext cx="1625346" cy="28895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513832"/>
            <a:ext cx="34238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Föreningen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79592"/>
            <a:ext cx="34238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715B"/>
                </a:solidFill>
                <a:latin typeface="Inter 18pt"/>
              </a:rPr>
              <a:t>Mål, lag &amp; överblick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2240280"/>
            <a:ext cx="3423818" cy="310896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emo__lag-pos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174" y="2350008"/>
            <a:ext cx="1625346" cy="28895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83938" y="5513832"/>
            <a:ext cx="34238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Lagledaren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3938" y="5879592"/>
            <a:ext cx="34238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715B"/>
                </a:solidFill>
                <a:latin typeface="Inter 18pt"/>
              </a:rPr>
              <a:t>Bjuder in &amp; följer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240280"/>
            <a:ext cx="3423818" cy="310896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emo__seller-post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7032" y="2350008"/>
            <a:ext cx="1625346" cy="28895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27796" y="5513832"/>
            <a:ext cx="34238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Säljaren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6" y="5879592"/>
            <a:ext cx="34238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715B"/>
                </a:solidFill>
                <a:latin typeface="Inter 18pt"/>
              </a:rPr>
              <a:t>Personlig shop + QR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06 · STEG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Inför säljstart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Allt förberett i systemet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20954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2724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Personliga shoppar &amp; QR redo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05079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6849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Mål synliga hela vägen ner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89204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0974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Färdiga delningsmallar (SMS/e-post)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06 · STEG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Under säljperioden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Betalning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Klarna – Swish, kort &amp; faktura.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0581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0581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Live-stats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0581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Uppdateras var 20:e sekund.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866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48474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8474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Topplistor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8474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Nivåer, medaljer &amp; milstolpar.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3759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56367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6367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Chatt &amp; notiser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6367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Lagledare ↔ säljare.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06 · STEG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Perioden tar slut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Shop stänger – inga nya ordrar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20954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2724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Avräkning per lag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05079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6849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Föreningens andel räknas ut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89204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0974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Klart för utbetalning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06 · STEG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Efter perioden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Föreningen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Resultat, avräkning &amp; utbetalning.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0581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0581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Säljaren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0581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Egna ordrar &amp; slutresultat.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866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48474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8474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Köparen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8474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Orderbekräftelse &amp; orderstatus.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3759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56367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6367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Leverans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6367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Samlat till klubben eller hem.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06 · UNDER HUVEN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CRM, back-end &amp; front-end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En plattform – webb, dashboard, betalning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20954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2724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CRM: lead → kund, pipeline &amp; offerter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05079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6849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Realtid i säljvyerna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89204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0974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Byggt in-house – värde ~6–10 MSEK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B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s-symbo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4008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9456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C1BF99"/>
                </a:solidFill>
                <a:latin typeface="Alan San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lan Sans"/>
              </a:rPr>
              <a:t>Förutsättningar för säljarna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611880"/>
            <a:ext cx="1280160" cy="4572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1BF99"/>
                </a:solidFill>
                <a:latin typeface="Alan Sans"/>
              </a:rPr>
              <a:t>ROOTS</a:t>
            </a:r>
            <a:r>
              <a:rPr sz="1000" b="0">
                <a:solidFill>
                  <a:srgbClr val="D5CABF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CABF"/>
                </a:solidFill>
                <a:latin typeface="Inter 18pt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07 · VERKTYGSLÅDAN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Vad du behöver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Säljpresentation, produktblad, kalkylator.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0581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0581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Kläder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0581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Profil – vi ser ut som ett team.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866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48474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8474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Samples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8474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Produkter att visa och känna på.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3759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56367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6367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6367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Inlogg, CRM och färdiga mallar.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B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s-symbo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4008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9456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C1BF99"/>
                </a:solidFill>
                <a:latin typeface="Alan San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lan Sans"/>
              </a:rPr>
              <a:t>Organisation &amp; samarbete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611880"/>
            <a:ext cx="1280160" cy="4572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1BF99"/>
                </a:solidFill>
                <a:latin typeface="Alan Sans"/>
              </a:rPr>
              <a:t>ROOTS</a:t>
            </a:r>
            <a:r>
              <a:rPr sz="1000" b="0">
                <a:solidFill>
                  <a:srgbClr val="D5CABF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CABF"/>
                </a:solidFill>
                <a:latin typeface="Inter 18pt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08 · SÅ JOBBAR 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Så jobbar vi ihop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Vem gör vad – tydligt och avtalat.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0581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0581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Synk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0581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Veckomöte + pipeline-genomgång.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866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48474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8474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Kommunikation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8474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WhatsApp-grupper + mail.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3759" y="2468880"/>
            <a:ext cx="2487853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56367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6367" y="3090672"/>
            <a:ext cx="190263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En sanning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6367" y="3886200"/>
            <a:ext cx="190263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Allt hamnar i CRM.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B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s-symbo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4008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9456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C1BF99"/>
                </a:solidFill>
                <a:latin typeface="Alan San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lan Sans"/>
              </a:rPr>
              <a:t>Avslutning &amp; beslut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611880"/>
            <a:ext cx="1280160" cy="4572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1BF99"/>
                </a:solidFill>
                <a:latin typeface="Alan Sans"/>
              </a:rPr>
              <a:t>ROOTS</a:t>
            </a:r>
            <a:r>
              <a:rPr sz="1000" b="0">
                <a:solidFill>
                  <a:srgbClr val="D5CABF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CABF"/>
                </a:solidFill>
                <a:latin typeface="Inter 18pt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09 · BESLUT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Beslutspunkter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Målbild &amp; aktivitetsmål – spikade?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20954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2724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Alliansöreningar – vilka först?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05079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6849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Marginal 35 % som standard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89204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0974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Nästa synk – när?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Säljkickoff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B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s-symbo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7724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4672" y="26517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Alan Sans"/>
              </a:rPr>
              <a:t>Nu kör vi.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77639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1BF99"/>
                </a:solidFill>
                <a:latin typeface="Inter 18pt"/>
              </a:rPr>
              <a:t>One team. Starkare föreningsliv.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