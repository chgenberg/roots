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71" r:id="rId2"/>
    <p:sldId id="457" r:id="rId3"/>
    <p:sldId id="458" r:id="rId4"/>
    <p:sldId id="459" r:id="rId5"/>
    <p:sldId id="460" r:id="rId6"/>
    <p:sldId id="461" r:id="rId7"/>
    <p:sldId id="462" r:id="rId8"/>
    <p:sldId id="463" r:id="rId9"/>
    <p:sldId id="464" r:id="rId10"/>
    <p:sldId id="465" r:id="rId11"/>
  </p:sldIdLst>
  <p:sldSz cx="12192000" cy="6858000"/>
  <p:notesSz cx="7104063" cy="10234613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46874-5095-45A0-B64C-28393C954EAC}" v="174" dt="2026-02-19T08:09:13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91" autoAdjust="0"/>
    <p:restoredTop sz="94684" autoAdjust="0"/>
  </p:normalViewPr>
  <p:slideViewPr>
    <p:cSldViewPr snapToGrid="0">
      <p:cViewPr>
        <p:scale>
          <a:sx n="90" d="100"/>
          <a:sy n="90" d="100"/>
        </p:scale>
        <p:origin x="1100" y="5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2234E0D-B6B0-4895-8360-14B7D9E0AAB8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9F8059-269C-48D7-97F2-04CD69DA39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157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AF09EC-66E8-5F74-800F-6544F0FA1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3EDF64F-A3AA-AADB-B88F-2021C3F4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8993B12-DBC8-0E03-929D-08E6F4E94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9499C0F-B524-F9FF-5B7D-18CF7B52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16E67D3-F089-90D8-A777-110E90E6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3776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9A47405-61D8-2176-9DFD-DAE1EDC9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8C77BAB-038B-1739-FFF7-985636400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3A4D1DC-8B0F-49D2-662A-CD0F8E07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D0EA4E4-2554-42D5-98E4-226CA2BA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53DC42E-1310-6E02-3C5B-03031576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145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1A81D6D-74F2-BBF4-77AD-E0F277BB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1793EE8-3086-0E9D-5747-8B82F64B5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AB62881-D777-626E-3348-54C90763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DBE6513-CAA3-2C1E-C23B-CDA0F045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5934BC8-A8BC-AFB7-6B15-62C5B867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026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59CDBF1-6792-4724-B511-6CE4492E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415364B-9D4B-5F91-404A-6CBDA07B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8FA4EC1-AEC2-1241-D888-27CD22024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C2F10D1-AF33-4BDD-A5C0-ABF853DD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9E0DAF6-98F5-75A8-5012-52722712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B472E73-3F4D-D7F5-3C21-1F481C08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404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DCAB1A-661C-EE1A-D287-5EB97292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8B9D5ED-0B44-108D-FF27-E2C9C84E4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40B30DA3-8594-75FA-92E6-2A6987ADC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A915259-4AC2-0332-C692-331DABFE2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B05DFFDF-1BB0-6556-7FE0-2E7E650AB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4AB5A696-8E03-6718-AF8D-04035BBF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2D962156-7FC9-62CC-658D-23DA9AF0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4CBDAD2A-1C37-0F35-9C92-BA433B59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576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933143E-C18C-3957-3EC8-4E910B36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A5ACFDE-98AD-844F-1747-96869B07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0E8FB40-DDA5-3A85-0CA8-1E430E10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85B0D34-395B-49D5-E2D7-107FA346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571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14138769-0C13-68A6-B79D-A0D079B95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02154713-A274-CE67-6292-0C7D57A5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CD709706-7159-EDC5-0D5A-88867CA0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691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A41B8C7-3541-F2EF-9DB8-0C5CE413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B1743CC-BD10-7083-7C7C-DF158F44E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07EECEEE-B1CC-9A4E-ADC7-67A9E878F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1B0F0CE-1A8D-EB8B-7194-D3628DF1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E4E06AF-E267-318C-AF3A-D2C47D86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9D5949D-6A73-A838-B286-D1B584A7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822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A4A32D-77CD-5240-2EE5-B6133DC62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29864D1-8614-C0A6-F006-C8C578F91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11BC368-98C6-2C88-2976-CF1499A24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894A9F4-C4F5-9FDF-026B-1FB5FE387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51BA0DC-6454-70A8-862A-3197BA0A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C0275A1-0456-790B-FC6E-6ABB2DAC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390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5F6317B-DCA6-1970-1066-369F4D9C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86D09FF9-77D5-9E3B-9147-BC8C3A308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149ECC-DDDD-C2F8-EE04-846BDCB4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8510B11-B1F4-39CC-D79E-13192C2D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8E7195B-6FF2-AA22-1843-B694DB0F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29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EB86A702-8519-0218-9C03-A0D29E3B8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E0408470-CFB8-0A22-F815-B983D4974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CEFD5BE-F2CC-FC27-EEC6-B0EAC73C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A355A3-4E3D-865E-B54A-8532D683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413D554-956D-284C-0DB3-A2CBAD3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524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0E9FE3A6-394F-74C8-6DFB-54C75AE5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8AE82A5-D3EE-B3F1-6465-387A7A6B7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41DA84C-D1A1-7D03-2243-9CAAB30B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9CA7A-6F0D-4F3F-B953-147F298DD761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6ADC3EF-0720-0228-E60E-51DF68A05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7A36654-230C-FB7B-5D79-035173EA4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0EA31-76F2-4AA3-B732-08EC101BE2A0}" type="slidenum">
              <a:rPr lang="sv-SE" smtClean="0"/>
              <a:t>‹#›</a:t>
            </a:fld>
            <a:endParaRPr lang="sv-SE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20EE7E03-4B3C-9876-551D-A97F7D1EEEE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85511" y="6222545"/>
            <a:ext cx="2106489" cy="63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F4C6E-9232-E04B-59FC-5E65384E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FD7C368-F155-48CA-14A8-EEA372CBD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Säljprocess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B31D7C7-FFC3-86FB-76F2-CC403F355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7833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C99C-6EAE-8B2C-C05C-3E0D8EBF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1B244DD-E66C-2A7B-8324-F9A32982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1. </a:t>
            </a:r>
            <a:r>
              <a:rPr lang="sv-SE" dirty="0" err="1"/>
              <a:t>Lead</a:t>
            </a:r>
            <a:r>
              <a:rPr lang="sv-SE" dirty="0"/>
              <a:t> → Prioritering (VEM ska vi gå på?)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DE6A4DC-FDEA-A534-93BA-75EDB0FCB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sz="1800" b="1" dirty="0"/>
              <a:t>Mål:</a:t>
            </a:r>
            <a:r>
              <a:rPr lang="sv-SE" sz="1800" dirty="0"/>
              <a:t> Fokusera säljtiden där det ger effekt</a:t>
            </a:r>
            <a:br>
              <a:rPr lang="sv-SE" sz="1800" dirty="0"/>
            </a:br>
            <a:endParaRPr lang="sv-SE" sz="1800" b="1" dirty="0"/>
          </a:p>
          <a:p>
            <a:pPr marL="0" indent="0">
              <a:buNone/>
            </a:pPr>
            <a:r>
              <a:rPr lang="sv-SE" sz="1800" b="1" dirty="0"/>
              <a:t>Input:</a:t>
            </a:r>
            <a:endParaRPr lang="sv-SE" sz="1800" dirty="0"/>
          </a:p>
          <a:p>
            <a:pPr lvl="1"/>
            <a:r>
              <a:rPr lang="sv-SE" sz="1400" dirty="0"/>
              <a:t>Säljarens egna </a:t>
            </a:r>
            <a:r>
              <a:rPr lang="sv-SE" sz="1400" dirty="0" err="1"/>
              <a:t>leads</a:t>
            </a:r>
            <a:r>
              <a:rPr lang="sv-SE" sz="1400" dirty="0"/>
              <a:t> + centrala </a:t>
            </a:r>
            <a:r>
              <a:rPr lang="sv-SE" sz="1400" dirty="0" err="1"/>
              <a:t>leads</a:t>
            </a:r>
            <a:r>
              <a:rPr lang="sv-SE" sz="1400" dirty="0"/>
              <a:t> </a:t>
            </a:r>
          </a:p>
          <a:p>
            <a:pPr lvl="1"/>
            <a:r>
              <a:rPr lang="sv-SE" sz="1400" dirty="0"/>
              <a:t>Historik (Folkspel/</a:t>
            </a:r>
            <a:r>
              <a:rPr lang="sv-SE" sz="1400" dirty="0" err="1"/>
              <a:t>Newbody</a:t>
            </a:r>
            <a:r>
              <a:rPr lang="sv-SE" sz="1400" dirty="0"/>
              <a:t>/Kakservice etc.) </a:t>
            </a:r>
          </a:p>
          <a:p>
            <a:pPr lvl="1"/>
            <a:r>
              <a:rPr lang="sv-SE" sz="1400" dirty="0"/>
              <a:t>Storlek (antal medlemmar/lag) </a:t>
            </a:r>
          </a:p>
          <a:p>
            <a:pPr lvl="1"/>
            <a:r>
              <a:rPr lang="sv-SE" sz="1400" dirty="0"/>
              <a:t>Struktur (förening vs löst organiserad) </a:t>
            </a:r>
          </a:p>
          <a:p>
            <a:pPr lvl="1"/>
            <a:r>
              <a:rPr lang="sv-SE" sz="1400" dirty="0"/>
              <a:t>Kännedom/relation </a:t>
            </a:r>
          </a:p>
          <a:p>
            <a:pPr marL="0" indent="0">
              <a:buNone/>
            </a:pPr>
            <a:r>
              <a:rPr lang="sv-SE" sz="1800" b="1" dirty="0"/>
              <a:t>Output:</a:t>
            </a:r>
            <a:endParaRPr lang="sv-SE" sz="1800" dirty="0"/>
          </a:p>
          <a:p>
            <a:pPr lvl="1"/>
            <a:r>
              <a:rPr lang="sv-SE" sz="1400" dirty="0"/>
              <a:t>A/B/C-prioritering</a:t>
            </a:r>
          </a:p>
          <a:p>
            <a:pPr lvl="1"/>
            <a:r>
              <a:rPr lang="sv-SE" sz="1400" dirty="0"/>
              <a:t>Potentialmatris</a:t>
            </a:r>
          </a:p>
          <a:p>
            <a:pPr lvl="1"/>
            <a:r>
              <a:rPr lang="sv-SE" sz="1400" dirty="0"/>
              <a:t>Kort “hypotes”:</a:t>
            </a:r>
            <a:br>
              <a:rPr lang="sv-SE" sz="1400" dirty="0"/>
            </a:br>
            <a:r>
              <a:rPr lang="sv-SE" sz="1400" i="1" dirty="0"/>
              <a:t>“Den här klubben borde kunna sälja 1500-2000 paket”</a:t>
            </a:r>
            <a:r>
              <a:rPr lang="sv-SE" sz="1400" dirty="0"/>
              <a:t> </a:t>
            </a:r>
            <a:br>
              <a:rPr lang="sv-SE" sz="1400" dirty="0"/>
            </a:br>
            <a:endParaRPr lang="sv-SE" sz="1400" dirty="0"/>
          </a:p>
          <a:p>
            <a:pPr marL="0" indent="0">
              <a:buNone/>
            </a:pPr>
            <a:r>
              <a:rPr lang="sv-SE" sz="1800" dirty="0"/>
              <a:t>👉 Nyckel: här sätter vi </a:t>
            </a:r>
            <a:r>
              <a:rPr lang="sv-SE" sz="1800" b="1" dirty="0"/>
              <a:t>förväntan redan innan mötet</a:t>
            </a:r>
            <a:endParaRPr lang="sv-SE" sz="1800" dirty="0"/>
          </a:p>
        </p:txBody>
      </p:sp>
    </p:spTree>
    <p:extLst>
      <p:ext uri="{BB962C8B-B14F-4D97-AF65-F5344CB8AC3E}">
        <p14:creationId xmlns:p14="http://schemas.microsoft.com/office/powerpoint/2010/main" val="316305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CC8F-7D23-682B-7381-7372E61B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1927C16-4C56-1A64-F6BC-B5D68FBB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2. Bokning &amp; Identifiering av “Motorn”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261EF53-3FA2-2C3D-EAB4-60DFBCB21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v-SE" b="1" dirty="0"/>
              <a:t>Mål:</a:t>
            </a:r>
            <a:r>
              <a:rPr lang="sv-SE" dirty="0"/>
              <a:t> Hitta rätt person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Vad vi gör:</a:t>
            </a:r>
            <a:endParaRPr lang="sv-SE" dirty="0"/>
          </a:p>
          <a:p>
            <a:pPr lvl="1"/>
            <a:r>
              <a:rPr lang="sv-SE" dirty="0"/>
              <a:t>Boka möte med klubbledning / lagledare </a:t>
            </a:r>
          </a:p>
          <a:p>
            <a:pPr lvl="1"/>
            <a:r>
              <a:rPr lang="sv-SE" dirty="0"/>
              <a:t>Identifiera: </a:t>
            </a:r>
          </a:p>
          <a:p>
            <a:pPr lvl="2"/>
            <a:r>
              <a:rPr lang="sv-SE" dirty="0"/>
              <a:t>Vem driver saker? </a:t>
            </a:r>
          </a:p>
          <a:p>
            <a:pPr lvl="2"/>
            <a:r>
              <a:rPr lang="sv-SE" dirty="0"/>
              <a:t>Vem får saker att hända? </a:t>
            </a:r>
          </a:p>
          <a:p>
            <a:pPr lvl="2"/>
            <a:r>
              <a:rPr lang="sv-SE" dirty="0"/>
              <a:t>Vem har respekt i gruppen?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Definition av rätt person:</a:t>
            </a:r>
            <a:endParaRPr lang="sv-SE" dirty="0"/>
          </a:p>
          <a:p>
            <a:pPr lvl="1"/>
            <a:r>
              <a:rPr lang="sv-SE" dirty="0"/>
              <a:t>Handlingskraftig </a:t>
            </a:r>
          </a:p>
          <a:p>
            <a:pPr lvl="1"/>
            <a:r>
              <a:rPr lang="sv-SE" dirty="0"/>
              <a:t>Socialt kapital i föreningen </a:t>
            </a:r>
          </a:p>
          <a:p>
            <a:pPr lvl="1"/>
            <a:r>
              <a:rPr lang="sv-SE" dirty="0"/>
              <a:t>Gillar att “få saker att hända”</a:t>
            </a:r>
            <a:br>
              <a:rPr lang="sv-SE" dirty="0"/>
            </a:b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👉 Här ska vi redan börja:</a:t>
            </a:r>
          </a:p>
          <a:p>
            <a:pPr lvl="1"/>
            <a:r>
              <a:rPr lang="sv-SE" dirty="0"/>
              <a:t>“Du känns som rätt person att driva detta”</a:t>
            </a:r>
          </a:p>
        </p:txBody>
      </p:sp>
    </p:spTree>
    <p:extLst>
      <p:ext uri="{BB962C8B-B14F-4D97-AF65-F5344CB8AC3E}">
        <p14:creationId xmlns:p14="http://schemas.microsoft.com/office/powerpoint/2010/main" val="316426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946D-764D-D461-EF44-D0EDC7B5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370D312-482A-496D-4E64-AF33EFA0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3. Säljmöte (INSIKT + POTENTIAL = JA)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7A4A31F-2C5C-B86D-D0FF-6FE5BA5F2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sv-SE" b="1" dirty="0"/>
              <a:t>Mål:</a:t>
            </a:r>
            <a:r>
              <a:rPr lang="sv-SE" dirty="0"/>
              <a:t> Skapa AHA + ägandeskap	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Struktur på mötet:</a:t>
            </a:r>
            <a:br>
              <a:rPr lang="sv-SE" dirty="0"/>
            </a:b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Positionering</a:t>
            </a:r>
          </a:p>
          <a:p>
            <a:pPr lvl="1"/>
            <a:r>
              <a:rPr lang="sv-SE" dirty="0" err="1"/>
              <a:t>Enkelt:“Vi</a:t>
            </a:r>
            <a:r>
              <a:rPr lang="sv-SE" dirty="0"/>
              <a:t> gör det enkelt att tjäna pengar – utan att ni behöver hantera pengar”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Räknesnurran (vår killer 🔥)</a:t>
            </a:r>
          </a:p>
          <a:p>
            <a:pPr lvl="1"/>
            <a:r>
              <a:rPr lang="sv-SE" dirty="0"/>
              <a:t>Två ingångar:</a:t>
            </a:r>
          </a:p>
          <a:p>
            <a:pPr lvl="2"/>
            <a:r>
              <a:rPr lang="sv-SE" dirty="0"/>
              <a:t>Per medlem (x paket/person)</a:t>
            </a:r>
          </a:p>
          <a:p>
            <a:pPr lvl="2"/>
            <a:r>
              <a:rPr lang="sv-SE" dirty="0"/>
              <a:t>Per lag (x paket/lag)</a:t>
            </a:r>
          </a:p>
          <a:p>
            <a:pPr lvl="1"/>
            <a:r>
              <a:rPr lang="sv-SE" dirty="0"/>
              <a:t>👉 Viktigt:</a:t>
            </a:r>
          </a:p>
          <a:p>
            <a:pPr lvl="2"/>
            <a:r>
              <a:rPr lang="sv-SE" dirty="0"/>
              <a:t>Visualisera live</a:t>
            </a:r>
          </a:p>
          <a:p>
            <a:pPr lvl="2"/>
            <a:r>
              <a:rPr lang="sv-SE" dirty="0"/>
              <a:t>Låt DEM säga siffrorna</a:t>
            </a:r>
          </a:p>
          <a:p>
            <a:pPr lvl="2"/>
            <a:r>
              <a:rPr lang="sv-SE" dirty="0"/>
              <a:t>”Vad tror du är rimligt per spelare?”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Trigger</a:t>
            </a:r>
          </a:p>
          <a:p>
            <a:pPr lvl="1"/>
            <a:r>
              <a:rPr lang="sv-SE" dirty="0"/>
              <a:t>Visa vad “bra start” innebär</a:t>
            </a:r>
          </a:p>
          <a:p>
            <a:pPr lvl="1"/>
            <a:r>
              <a:rPr lang="sv-SE" dirty="0"/>
              <a:t>Introducera marknadsstöd:</a:t>
            </a:r>
          </a:p>
          <a:p>
            <a:pPr lvl="2"/>
            <a:r>
              <a:rPr lang="sv-SE" dirty="0"/>
              <a:t>Bas: X kr vid Y försäljning</a:t>
            </a:r>
          </a:p>
          <a:p>
            <a:pPr lvl="2"/>
            <a:r>
              <a:rPr lang="sv-SE" dirty="0"/>
              <a:t>Bonus: mer vid högre nivå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👉 Psykologi: “Det här vill vi inte missa”</a:t>
            </a:r>
          </a:p>
        </p:txBody>
      </p:sp>
    </p:spTree>
    <p:extLst>
      <p:ext uri="{BB962C8B-B14F-4D97-AF65-F5344CB8AC3E}">
        <p14:creationId xmlns:p14="http://schemas.microsoft.com/office/powerpoint/2010/main" val="253870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8919-A0C7-E5FE-15ED-D9756F60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7DBC449-652A-5E86-EB75-09EA4078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4. Stängning &amp; Setup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92AEF7A-D5D6-A730-B11C-B4C91F823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v-SE" sz="1600" b="1" dirty="0"/>
              <a:t>Mål:</a:t>
            </a:r>
            <a:r>
              <a:rPr lang="sv-SE" sz="1600" dirty="0"/>
              <a:t> Från “kul idé” → “nu kör vi”</a:t>
            </a:r>
            <a:br>
              <a:rPr lang="sv-SE" sz="1600" dirty="0"/>
            </a:br>
            <a:endParaRPr lang="sv-SE" sz="1600" dirty="0"/>
          </a:p>
          <a:p>
            <a:pPr marL="0" indent="0">
              <a:buNone/>
            </a:pPr>
            <a:r>
              <a:rPr lang="sv-SE" sz="1600" dirty="0"/>
              <a:t>Här ska det gå snabbt</a:t>
            </a:r>
            <a:br>
              <a:rPr lang="sv-SE" sz="1600" dirty="0"/>
            </a:br>
            <a:endParaRPr lang="sv-SE" sz="1600" dirty="0"/>
          </a:p>
          <a:p>
            <a:pPr marL="0" indent="0">
              <a:buNone/>
            </a:pPr>
            <a:r>
              <a:rPr lang="sv-SE" sz="1600" b="1" dirty="0"/>
              <a:t>Vi sätter direkt:</a:t>
            </a:r>
            <a:endParaRPr lang="sv-SE" sz="1600" dirty="0"/>
          </a:p>
          <a:p>
            <a:r>
              <a:rPr lang="sv-SE" sz="1600" dirty="0"/>
              <a:t>✅ </a:t>
            </a:r>
            <a:r>
              <a:rPr lang="sv-SE" sz="1600" dirty="0" err="1"/>
              <a:t>Superuser</a:t>
            </a:r>
            <a:r>
              <a:rPr lang="sv-SE" sz="1600" dirty="0"/>
              <a:t> / ansvarig </a:t>
            </a:r>
          </a:p>
          <a:p>
            <a:r>
              <a:rPr lang="sv-SE" sz="1600" dirty="0"/>
              <a:t>✅ Säljperiod (start/slut) </a:t>
            </a:r>
          </a:p>
          <a:p>
            <a:r>
              <a:rPr lang="sv-SE" sz="1600" dirty="0"/>
              <a:t>✅ Leveransdatum + plats</a:t>
            </a:r>
          </a:p>
          <a:p>
            <a:r>
              <a:rPr lang="sv-SE" sz="1600" dirty="0"/>
              <a:t>✅ Kunduppgifter</a:t>
            </a:r>
          </a:p>
          <a:p>
            <a:pPr lvl="1"/>
            <a:r>
              <a:rPr lang="sv-SE" sz="1400" dirty="0"/>
              <a:t>Riksorganisation</a:t>
            </a:r>
          </a:p>
          <a:p>
            <a:pPr lvl="1"/>
            <a:r>
              <a:rPr lang="sv-SE" sz="1400" dirty="0"/>
              <a:t>Sport</a:t>
            </a:r>
          </a:p>
          <a:p>
            <a:pPr lvl="1"/>
            <a:r>
              <a:rPr lang="sv-SE" sz="1400" dirty="0"/>
              <a:t>Lag/ålder</a:t>
            </a:r>
          </a:p>
          <a:p>
            <a:pPr lvl="1"/>
            <a:r>
              <a:rPr lang="sv-SE" sz="1400" dirty="0"/>
              <a:t>Skola</a:t>
            </a:r>
          </a:p>
        </p:txBody>
      </p:sp>
      <p:sp>
        <p:nvSpPr>
          <p:cNvPr id="4" name="Platshållare för innehåll 2">
            <a:extLst>
              <a:ext uri="{FF2B5EF4-FFF2-40B4-BE49-F238E27FC236}">
                <a16:creationId xmlns:a16="http://schemas.microsoft.com/office/drawing/2014/main" id="{9C9D9ECE-A40D-BCF6-8025-361E571A6DD8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1600" dirty="0"/>
              <a:t>✅ Struktur: </a:t>
            </a:r>
          </a:p>
          <a:p>
            <a:pPr lvl="1"/>
            <a:r>
              <a:rPr lang="sv-SE" sz="1400" dirty="0"/>
              <a:t>Lag </a:t>
            </a:r>
          </a:p>
          <a:p>
            <a:pPr lvl="1"/>
            <a:r>
              <a:rPr lang="sv-SE" sz="1400" dirty="0"/>
              <a:t>Grupper </a:t>
            </a:r>
          </a:p>
          <a:p>
            <a:pPr lvl="1"/>
            <a:r>
              <a:rPr lang="sv-SE" sz="1400" dirty="0"/>
              <a:t>Ansvariga </a:t>
            </a:r>
          </a:p>
          <a:p>
            <a:r>
              <a:rPr lang="sv-SE" sz="1600" dirty="0"/>
              <a:t>✅ Mål: </a:t>
            </a:r>
          </a:p>
          <a:p>
            <a:pPr lvl="1"/>
            <a:r>
              <a:rPr lang="sv-SE" sz="1400" dirty="0"/>
              <a:t>Per medlem </a:t>
            </a:r>
          </a:p>
          <a:p>
            <a:pPr lvl="1"/>
            <a:r>
              <a:rPr lang="sv-SE" sz="1400" dirty="0"/>
              <a:t>Per lag </a:t>
            </a:r>
          </a:p>
          <a:p>
            <a:pPr lvl="1"/>
            <a:r>
              <a:rPr lang="sv-SE" sz="1400" dirty="0"/>
              <a:t>Total klubb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600" dirty="0"/>
              <a:t>👉 Viktigt:</a:t>
            </a:r>
          </a:p>
          <a:p>
            <a:r>
              <a:rPr lang="sv-SE" sz="1600" dirty="0"/>
              <a:t>Målen ska vara </a:t>
            </a:r>
            <a:r>
              <a:rPr lang="sv-SE" sz="1600" b="1" dirty="0"/>
              <a:t>synliga hela vägen ner</a:t>
            </a:r>
            <a:endParaRPr lang="sv-SE" sz="1600" dirty="0"/>
          </a:p>
        </p:txBody>
      </p:sp>
    </p:spTree>
    <p:extLst>
      <p:ext uri="{BB962C8B-B14F-4D97-AF65-F5344CB8AC3E}">
        <p14:creationId xmlns:p14="http://schemas.microsoft.com/office/powerpoint/2010/main" val="89412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6501-9A21-C78B-D586-333C94DF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06FE386-20AB-6E58-208D-087F032E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5. Genomförande (ENERGI + DRIV)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3D7D4C-684F-A3B6-4AEE-FC7960A5A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v-SE" dirty="0"/>
              <a:t>Här bygger vi det som skiljer oss från alla andra</a:t>
            </a:r>
            <a:br>
              <a:rPr lang="sv-SE" dirty="0"/>
            </a:br>
            <a:endParaRPr lang="sv-SE" dirty="0"/>
          </a:p>
          <a:p>
            <a:r>
              <a:rPr lang="sv-SE" b="1" dirty="0"/>
              <a:t>Före start:</a:t>
            </a:r>
          </a:p>
          <a:p>
            <a:pPr lvl="1"/>
            <a:r>
              <a:rPr lang="sv-SE" dirty="0"/>
              <a:t>Push: </a:t>
            </a:r>
          </a:p>
          <a:p>
            <a:pPr lvl="2"/>
            <a:r>
              <a:rPr lang="sv-SE" dirty="0"/>
              <a:t>Inspiration </a:t>
            </a:r>
          </a:p>
          <a:p>
            <a:pPr lvl="2"/>
            <a:r>
              <a:rPr lang="sv-SE" dirty="0"/>
              <a:t>“Så gjorde andra” </a:t>
            </a:r>
          </a:p>
          <a:p>
            <a:pPr lvl="2"/>
            <a:r>
              <a:rPr lang="sv-SE" dirty="0"/>
              <a:t>Konkreta tips </a:t>
            </a:r>
          </a:p>
          <a:p>
            <a:r>
              <a:rPr lang="sv-SE" b="1" dirty="0"/>
              <a:t>Under:</a:t>
            </a:r>
          </a:p>
          <a:p>
            <a:pPr lvl="1"/>
            <a:r>
              <a:rPr lang="sv-SE" dirty="0"/>
              <a:t>Live </a:t>
            </a:r>
            <a:r>
              <a:rPr lang="sv-SE" dirty="0" err="1"/>
              <a:t>tracking</a:t>
            </a:r>
            <a:r>
              <a:rPr lang="sv-SE" dirty="0"/>
              <a:t>: </a:t>
            </a:r>
          </a:p>
          <a:p>
            <a:pPr lvl="2"/>
            <a:r>
              <a:rPr lang="sv-SE" dirty="0"/>
              <a:t>Klubb </a:t>
            </a:r>
          </a:p>
          <a:p>
            <a:pPr lvl="2"/>
            <a:r>
              <a:rPr lang="sv-SE" dirty="0"/>
              <a:t>Lag </a:t>
            </a:r>
          </a:p>
          <a:p>
            <a:pPr lvl="2"/>
            <a:r>
              <a:rPr lang="sv-SE" dirty="0"/>
              <a:t>Individ </a:t>
            </a:r>
          </a:p>
          <a:p>
            <a:pPr lvl="1"/>
            <a:r>
              <a:rPr lang="sv-SE" dirty="0"/>
              <a:t>Pushar: </a:t>
            </a:r>
          </a:p>
          <a:p>
            <a:pPr lvl="2"/>
            <a:r>
              <a:rPr lang="sv-SE" dirty="0"/>
              <a:t>“Ni är 72% till mål” </a:t>
            </a:r>
          </a:p>
          <a:p>
            <a:pPr lvl="2"/>
            <a:r>
              <a:rPr lang="sv-SE" dirty="0"/>
              <a:t>“Lag X leder” </a:t>
            </a:r>
          </a:p>
          <a:p>
            <a:pPr lvl="2"/>
            <a:r>
              <a:rPr lang="sv-SE" dirty="0"/>
              <a:t>“Nu kör vi sista veckan”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dirty="0"/>
              <a:t>👉 Här bygger vi: </a:t>
            </a:r>
            <a:r>
              <a:rPr lang="sv-SE" b="1" dirty="0" err="1"/>
              <a:t>gameification</a:t>
            </a:r>
            <a:r>
              <a:rPr lang="sv-SE" b="1" dirty="0"/>
              <a:t> + stolthet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3287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17DB-D537-FF45-866F-7BEE0D91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7939C4F-4CB0-E133-C985-88324FE5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6. Avslut &amp; Förstärkning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4A39075-CDB7-6491-78D3-EB259866D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v-SE" b="1" dirty="0"/>
              <a:t>Mål:</a:t>
            </a:r>
            <a:r>
              <a:rPr lang="sv-SE" dirty="0"/>
              <a:t> Maxa känslan + skapa nästa affär</a:t>
            </a:r>
            <a:br>
              <a:rPr lang="sv-SE" dirty="0"/>
            </a:br>
            <a:endParaRPr lang="sv-SE" dirty="0"/>
          </a:p>
          <a:p>
            <a:r>
              <a:rPr lang="sv-SE" dirty="0"/>
              <a:t>Resultat: </a:t>
            </a:r>
          </a:p>
          <a:p>
            <a:pPr lvl="1"/>
            <a:r>
              <a:rPr lang="sv-SE" dirty="0"/>
              <a:t>Klubb </a:t>
            </a:r>
          </a:p>
          <a:p>
            <a:pPr lvl="1"/>
            <a:r>
              <a:rPr lang="sv-SE" dirty="0"/>
              <a:t>Lag </a:t>
            </a:r>
          </a:p>
          <a:p>
            <a:pPr lvl="1"/>
            <a:r>
              <a:rPr lang="sv-SE" dirty="0"/>
              <a:t>Individ</a:t>
            </a:r>
            <a:br>
              <a:rPr lang="sv-SE" dirty="0"/>
            </a:br>
            <a:endParaRPr lang="sv-SE" dirty="0"/>
          </a:p>
          <a:p>
            <a:r>
              <a:rPr lang="sv-SE" dirty="0"/>
              <a:t>Topplista: </a:t>
            </a:r>
          </a:p>
          <a:p>
            <a:pPr lvl="1"/>
            <a:r>
              <a:rPr lang="sv-SE" dirty="0"/>
              <a:t>“Månadens lirare” 🏆</a:t>
            </a:r>
            <a:br>
              <a:rPr lang="sv-SE" dirty="0"/>
            </a:br>
            <a:r>
              <a:rPr lang="sv-SE" dirty="0"/>
              <a:t> </a:t>
            </a:r>
          </a:p>
          <a:p>
            <a:r>
              <a:rPr lang="sv-SE" dirty="0"/>
              <a:t>Färdigt </a:t>
            </a:r>
            <a:r>
              <a:rPr lang="sv-SE" dirty="0" err="1"/>
              <a:t>content</a:t>
            </a:r>
            <a:r>
              <a:rPr lang="sv-SE" dirty="0"/>
              <a:t>: </a:t>
            </a:r>
          </a:p>
          <a:p>
            <a:pPr lvl="1"/>
            <a:r>
              <a:rPr lang="sv-SE" dirty="0"/>
              <a:t>“Vi drog in 87 000 kr” </a:t>
            </a:r>
          </a:p>
          <a:p>
            <a:pPr lvl="1"/>
            <a:r>
              <a:rPr lang="sv-SE" dirty="0"/>
              <a:t>Klart att posta</a:t>
            </a:r>
            <a:br>
              <a:rPr lang="sv-SE" dirty="0"/>
            </a:b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👉 Nyckel: </a:t>
            </a:r>
            <a:r>
              <a:rPr lang="sv-SE" b="1" dirty="0"/>
              <a:t>de ska vilja göra det igen direkt – boka redan in nästa säljperiod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9444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F715-AD89-192A-2262-FAC5B836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40ED68B-1D28-5EE7-B19F-3D26A949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3200" dirty="0"/>
              <a:t>7. Leverans &amp; Logistik (glöms ofta – men avgör upplevelsen)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642AC17-0F07-23DF-5917-C1BA82A65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sv-SE" b="1" dirty="0"/>
              <a:t>Mål</a:t>
            </a:r>
            <a:r>
              <a:rPr lang="sv-SE" dirty="0"/>
              <a:t>: Skapa en extremt enkel administration:</a:t>
            </a:r>
            <a:br>
              <a:rPr lang="sv-SE" dirty="0"/>
            </a:br>
            <a:endParaRPr lang="sv-SE" dirty="0"/>
          </a:p>
          <a:p>
            <a:r>
              <a:rPr lang="sv-SE" dirty="0"/>
              <a:t>Packa: </a:t>
            </a:r>
          </a:p>
          <a:p>
            <a:pPr lvl="1"/>
            <a:r>
              <a:rPr lang="sv-SE" dirty="0"/>
              <a:t>Lagvis </a:t>
            </a:r>
          </a:p>
          <a:p>
            <a:pPr lvl="1"/>
            <a:r>
              <a:rPr lang="sv-SE" dirty="0"/>
              <a:t>Individvis (helst) </a:t>
            </a:r>
          </a:p>
          <a:p>
            <a:r>
              <a:rPr lang="sv-SE" dirty="0"/>
              <a:t>Med: </a:t>
            </a:r>
          </a:p>
          <a:p>
            <a:pPr lvl="1"/>
            <a:r>
              <a:rPr lang="sv-SE" dirty="0"/>
              <a:t>Avprickningslistor </a:t>
            </a:r>
          </a:p>
          <a:p>
            <a:pPr lvl="1"/>
            <a:r>
              <a:rPr lang="sv-SE" dirty="0"/>
              <a:t>Tydliga instruktioner </a:t>
            </a:r>
          </a:p>
          <a:p>
            <a:r>
              <a:rPr lang="sv-SE" dirty="0"/>
              <a:t>Kommunikation: </a:t>
            </a:r>
          </a:p>
          <a:p>
            <a:pPr lvl="1"/>
            <a:r>
              <a:rPr lang="sv-SE" dirty="0"/>
              <a:t>3–5 dagar innan </a:t>
            </a:r>
          </a:p>
          <a:p>
            <a:pPr lvl="1"/>
            <a:r>
              <a:rPr lang="sv-SE" dirty="0"/>
              <a:t>“Så här går det till”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dirty="0"/>
              <a:t>👉 Detta är: </a:t>
            </a:r>
            <a:r>
              <a:rPr lang="sv-SE" b="1" dirty="0"/>
              <a:t>moment </a:t>
            </a:r>
            <a:r>
              <a:rPr lang="sv-SE" b="1" dirty="0" err="1"/>
              <a:t>of</a:t>
            </a:r>
            <a:r>
              <a:rPr lang="sv-SE" b="1" dirty="0"/>
              <a:t> </a:t>
            </a:r>
            <a:r>
              <a:rPr lang="sv-SE" b="1" dirty="0" err="1"/>
              <a:t>truth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8144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FDEF-1168-CD88-B8FD-C20A94BB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10DD491-14A1-32B8-5BE7-6321E9C7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/>
              <a:t>Att fundera över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05E0827-C0D5-2BFC-AE4C-3BA2F2C5A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v-SE" b="1" dirty="0"/>
              <a:t>1. Incitamentsstruktur (för “motorn”)</a:t>
            </a:r>
            <a:br>
              <a:rPr lang="sv-SE" b="1" dirty="0"/>
            </a:br>
            <a:endParaRPr lang="sv-SE" b="1" dirty="0"/>
          </a:p>
          <a:p>
            <a:r>
              <a:rPr lang="sv-SE" dirty="0"/>
              <a:t>Ge personen:</a:t>
            </a:r>
          </a:p>
          <a:p>
            <a:pPr lvl="1"/>
            <a:r>
              <a:rPr lang="sv-SE" dirty="0"/>
              <a:t>Status (titel i </a:t>
            </a:r>
            <a:r>
              <a:rPr lang="sv-SE" dirty="0" err="1"/>
              <a:t>appen</a:t>
            </a:r>
            <a:r>
              <a:rPr lang="sv-SE" dirty="0"/>
              <a:t>) </a:t>
            </a:r>
          </a:p>
          <a:p>
            <a:pPr lvl="1"/>
            <a:r>
              <a:rPr lang="sv-SE" dirty="0"/>
              <a:t>Synlighet </a:t>
            </a:r>
          </a:p>
          <a:p>
            <a:pPr lvl="1"/>
            <a:r>
              <a:rPr lang="sv-SE" dirty="0"/>
              <a:t>Ev. bonus / kickback / present / inbjudan till nätverksträff</a:t>
            </a:r>
          </a:p>
          <a:p>
            <a:pPr marL="0" indent="0">
              <a:buNone/>
            </a:pPr>
            <a:r>
              <a:rPr lang="sv-SE" dirty="0"/>
              <a:t>👉 Den personen avgör 80% av utfallet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2. Säljarens </a:t>
            </a:r>
            <a:r>
              <a:rPr lang="sv-SE" b="1" dirty="0" err="1"/>
              <a:t>playbook</a:t>
            </a:r>
            <a:r>
              <a:rPr lang="sv-SE" b="1" dirty="0"/>
              <a:t> (internt)</a:t>
            </a:r>
            <a:br>
              <a:rPr lang="sv-SE" b="1" dirty="0"/>
            </a:br>
            <a:endParaRPr lang="sv-SE" b="1" dirty="0"/>
          </a:p>
          <a:p>
            <a:pPr marL="0" indent="0">
              <a:buNone/>
            </a:pPr>
            <a:r>
              <a:rPr lang="sv-SE" dirty="0"/>
              <a:t>För att skala behöver vi:</a:t>
            </a:r>
          </a:p>
          <a:p>
            <a:pPr lvl="1"/>
            <a:r>
              <a:rPr lang="sv-SE" dirty="0"/>
              <a:t>Exakt mötesstruktur </a:t>
            </a:r>
          </a:p>
          <a:p>
            <a:pPr lvl="1"/>
            <a:r>
              <a:rPr lang="sv-SE" dirty="0"/>
              <a:t>Exakta frågor </a:t>
            </a:r>
          </a:p>
          <a:p>
            <a:pPr lvl="1"/>
            <a:r>
              <a:rPr lang="sv-SE" dirty="0"/>
              <a:t>Exakt veta hur räknesnurran används </a:t>
            </a:r>
          </a:p>
          <a:p>
            <a:pPr lvl="1"/>
            <a:r>
              <a:rPr lang="sv-SE" dirty="0"/>
              <a:t>Invändningshantering</a:t>
            </a:r>
          </a:p>
          <a:p>
            <a:pPr marL="0" indent="0">
              <a:buNone/>
            </a:pPr>
            <a:r>
              <a:rPr lang="sv-SE" dirty="0"/>
              <a:t>👉 Vi skall följa samma arbetssätt, säga samma saker och ha samma argument</a:t>
            </a:r>
          </a:p>
        </p:txBody>
      </p:sp>
    </p:spTree>
    <p:extLst>
      <p:ext uri="{BB962C8B-B14F-4D97-AF65-F5344CB8AC3E}">
        <p14:creationId xmlns:p14="http://schemas.microsoft.com/office/powerpoint/2010/main" val="214690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2EB3-F326-FDF4-4D10-4E0EE652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965389F-E990-67F6-495B-2333B215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/>
              <a:t>Att fundera över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37BB699-CCB7-C855-BBF8-0327ECE57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sv-SE" b="1" dirty="0"/>
              <a:t>1. “Pilot-mode”</a:t>
            </a:r>
          </a:p>
          <a:p>
            <a:r>
              <a:rPr lang="sv-SE" dirty="0"/>
              <a:t>Första gången → mindre </a:t>
            </a:r>
            <a:r>
              <a:rPr lang="sv-SE" dirty="0" err="1"/>
              <a:t>scope</a:t>
            </a:r>
            <a:r>
              <a:rPr lang="sv-SE" dirty="0"/>
              <a:t> </a:t>
            </a:r>
          </a:p>
          <a:p>
            <a:r>
              <a:rPr lang="sv-SE" dirty="0"/>
              <a:t>Sänker tröskeln 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2. Tydlig “startknapp”</a:t>
            </a:r>
          </a:p>
          <a:p>
            <a:r>
              <a:rPr lang="sv-SE" dirty="0"/>
              <a:t>När börjar det på riktigt? </a:t>
            </a:r>
          </a:p>
          <a:p>
            <a:r>
              <a:rPr lang="sv-SE" dirty="0"/>
              <a:t>Kickoff-möte fysiskt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3. FOMO mellan föreningar</a:t>
            </a:r>
          </a:p>
          <a:p>
            <a:r>
              <a:rPr lang="sv-SE" dirty="0"/>
              <a:t>Visa: </a:t>
            </a:r>
          </a:p>
          <a:p>
            <a:pPr lvl="1"/>
            <a:r>
              <a:rPr lang="sv-SE" dirty="0"/>
              <a:t>“Andra tjänar X” </a:t>
            </a:r>
          </a:p>
          <a:p>
            <a:pPr lvl="1"/>
            <a:r>
              <a:rPr lang="sv-SE" dirty="0"/>
              <a:t>Ranking mellan klubbar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r>
              <a:rPr lang="sv-SE" b="1" dirty="0"/>
              <a:t>4. Återköp / prenumeration</a:t>
            </a:r>
          </a:p>
          <a:p>
            <a:r>
              <a:rPr lang="sv-SE" dirty="0"/>
              <a:t>“Vill ni köra igen i höst?” </a:t>
            </a:r>
          </a:p>
          <a:p>
            <a:r>
              <a:rPr lang="sv-SE" dirty="0"/>
              <a:t>“Eller prenumerationsspår?”</a:t>
            </a:r>
          </a:p>
        </p:txBody>
      </p:sp>
    </p:spTree>
    <p:extLst>
      <p:ext uri="{BB962C8B-B14F-4D97-AF65-F5344CB8AC3E}">
        <p14:creationId xmlns:p14="http://schemas.microsoft.com/office/powerpoint/2010/main" val="223112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88552</TotalTime>
  <Words>698</Words>
  <Application>Microsoft Office PowerPoint</Application>
  <PresentationFormat>Bredbild</PresentationFormat>
  <Paragraphs>138</Paragraphs>
  <Slides>10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Office-tema</vt:lpstr>
      <vt:lpstr>Säljprocess</vt:lpstr>
      <vt:lpstr>1. Lead → Prioritering (VEM ska vi gå på?)</vt:lpstr>
      <vt:lpstr>2. Bokning &amp; Identifiering av “Motorn”</vt:lpstr>
      <vt:lpstr>3. Säljmöte (INSIKT + POTENTIAL = JA)</vt:lpstr>
      <vt:lpstr>4. Stängning &amp; Setup</vt:lpstr>
      <vt:lpstr>5. Genomförande (ENERGI + DRIV)</vt:lpstr>
      <vt:lpstr>6. Avslut &amp; Förstärkning</vt:lpstr>
      <vt:lpstr>7. Leverans &amp; Logistik (glöms ofta – men avgör upplevelsen)</vt:lpstr>
      <vt:lpstr>Att fundera över</vt:lpstr>
      <vt:lpstr>Att fundera över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Ledare som förebilder</dc:title>
  <dc:creator>admin</dc:creator>
  <cp:lastModifiedBy>Johan Lindqvist</cp:lastModifiedBy>
  <cp:revision>63</cp:revision>
  <cp:lastPrinted>2026-04-15T09:37:19Z</cp:lastPrinted>
  <dcterms:created xsi:type="dcterms:W3CDTF">2022-10-25T14:52:17Z</dcterms:created>
  <dcterms:modified xsi:type="dcterms:W3CDTF">2026-05-14T04:11:19Z</dcterms:modified>
</cp:coreProperties>
</file>